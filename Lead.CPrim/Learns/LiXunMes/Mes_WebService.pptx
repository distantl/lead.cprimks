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76" r:id="rId4"/>
    <p:sldId id="275" r:id="rId5"/>
    <p:sldId id="279" r:id="rId6"/>
    <p:sldId id="280" r:id="rId7"/>
    <p:sldId id="281" r:id="rId8"/>
    <p:sldId id="282" r:id="rId9"/>
    <p:sldId id="283" r:id="rId10"/>
    <p:sldId id="295" r:id="rId11"/>
    <p:sldId id="284" r:id="rId12"/>
    <p:sldId id="285" r:id="rId13"/>
    <p:sldId id="286" r:id="rId14"/>
    <p:sldId id="287" r:id="rId15"/>
    <p:sldId id="258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jin Hu(LUXSHARE-ICT)" initials="KH" lastIdx="1" clrIdx="0">
    <p:extLst>
      <p:ext uri="{19B8F6BF-5375-455C-9EA6-DF929625EA0E}">
        <p15:presenceInfo xmlns:p15="http://schemas.microsoft.com/office/powerpoint/2012/main" userId="S-1-5-21-43931169-2233990642-712345318-78351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79" autoAdjust="0"/>
    <p:restoredTop sz="94660"/>
  </p:normalViewPr>
  <p:slideViewPr>
    <p:cSldViewPr snapToGrid="0">
      <p:cViewPr varScale="1">
        <p:scale>
          <a:sx n="90" d="100"/>
          <a:sy n="90" d="100"/>
        </p:scale>
        <p:origin x="6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4-22T10:51:11.978" idx="1">
    <p:pos x="7562" y="703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754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6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946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607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770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96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685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182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216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591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6C0-1019-4772-8FA0-36ADF09A2DF1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146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3C6C0-1019-4772-8FA0-36ADF09A2DF1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586EB-6119-4D7C-B682-3720D7236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74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707"/>
            <a:ext cx="12191999" cy="55951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0"/>
            <a:ext cx="12192000" cy="60470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6185358"/>
            <a:ext cx="12192000" cy="67264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4"/>
          <p:cNvSpPr txBox="1">
            <a:spLocks noChangeArrowheads="1"/>
          </p:cNvSpPr>
          <p:nvPr/>
        </p:nvSpPr>
        <p:spPr bwMode="auto">
          <a:xfrm>
            <a:off x="7412181" y="2620037"/>
            <a:ext cx="3420466" cy="120032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自动化</a:t>
            </a:r>
            <a:r>
              <a:rPr lang="zh-CN" altLang="en-US" sz="32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Web Service</a:t>
            </a:r>
            <a:r>
              <a:rPr lang="en-US" altLang="zh-CN" sz="3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        </a:t>
            </a:r>
          </a:p>
          <a:p>
            <a:pPr eaLnBrk="1" hangingPunct="1"/>
            <a:r>
              <a:rPr lang="en-US" altLang="zh-CN" sz="3600" b="1" dirty="0">
                <a:solidFill>
                  <a:srgbClr val="FB2740"/>
                </a:solidFill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--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介绍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7261678" y="2191657"/>
            <a:ext cx="0" cy="24386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4"/>
          <p:cNvSpPr txBox="1">
            <a:spLocks noChangeArrowheads="1"/>
          </p:cNvSpPr>
          <p:nvPr/>
        </p:nvSpPr>
        <p:spPr bwMode="auto">
          <a:xfrm>
            <a:off x="9122414" y="3964764"/>
            <a:ext cx="1664610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en-US" altLang="zh-CN" b="1" dirty="0">
                <a:solidFill>
                  <a:schemeClr val="bg1"/>
                </a:solidFill>
              </a:rPr>
              <a:t>SF</a:t>
            </a:r>
            <a:r>
              <a:rPr lang="zh-CN" altLang="zh-CN" b="1" dirty="0">
                <a:solidFill>
                  <a:schemeClr val="bg1"/>
                </a:solidFill>
              </a:rPr>
              <a:t>系统管理部</a:t>
            </a:r>
            <a:endParaRPr lang="zh-CN" altLang="en-US" sz="1200" b="1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828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455294" y="403252"/>
            <a:ext cx="2367252" cy="684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</a:t>
            </a:r>
          </a:p>
          <a:p>
            <a:pPr eaLnBrk="1" hangingPunct="1"/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19273" y="1088037"/>
            <a:ext cx="8028670" cy="875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SUB</a:t>
            </a:r>
            <a:r>
              <a:rPr lang="zh-CN" altLang="en-US" b="1" dirty="0">
                <a:solidFill>
                  <a:srgbClr val="FFFF00"/>
                </a:solidFill>
              </a:rPr>
              <a:t>段</a:t>
            </a:r>
            <a:r>
              <a:rPr lang="en-US" altLang="zh-CN" b="1" dirty="0">
                <a:solidFill>
                  <a:srgbClr val="FFFF00"/>
                </a:solidFill>
              </a:rPr>
              <a:t>:   </a:t>
            </a:r>
            <a:r>
              <a:rPr lang="en-US" altLang="zh-CN" dirty="0">
                <a:solidFill>
                  <a:srgbClr val="FFFF00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http://10.55.4.100/</a:t>
            </a:r>
            <a:r>
              <a:rPr lang="en-US" altLang="zh-CN" dirty="0">
                <a:solidFill>
                  <a:srgbClr val="00B0F0"/>
                </a:solidFill>
              </a:rPr>
              <a:t>Automation_Sub</a:t>
            </a:r>
            <a:r>
              <a:rPr lang="en-US" altLang="zh-CN" dirty="0">
                <a:solidFill>
                  <a:schemeClr val="bg1"/>
                </a:solidFill>
              </a:rPr>
              <a:t>/LinkSF.asmx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   </a:t>
            </a:r>
            <a:r>
              <a:rPr lang="zh-CN" altLang="en-US" b="1" dirty="0">
                <a:solidFill>
                  <a:srgbClr val="FFFF00"/>
                </a:solidFill>
              </a:rPr>
              <a:t>组装</a:t>
            </a:r>
            <a:r>
              <a:rPr lang="en-US" altLang="zh-CN" b="1" dirty="0">
                <a:solidFill>
                  <a:srgbClr val="FFFF00"/>
                </a:solidFill>
              </a:rPr>
              <a:t>\</a:t>
            </a:r>
            <a:r>
              <a:rPr lang="zh-CN" altLang="en-US" b="1" dirty="0">
                <a:solidFill>
                  <a:srgbClr val="FFFF00"/>
                </a:solidFill>
              </a:rPr>
              <a:t>镭射</a:t>
            </a:r>
            <a:r>
              <a:rPr lang="en-US" altLang="zh-CN" b="1" dirty="0">
                <a:solidFill>
                  <a:srgbClr val="FFFF00"/>
                </a:solidFill>
              </a:rPr>
              <a:t>\</a:t>
            </a:r>
            <a:r>
              <a:rPr lang="zh-CN" altLang="en-US" b="1" dirty="0">
                <a:solidFill>
                  <a:srgbClr val="FFFF00"/>
                </a:solidFill>
              </a:rPr>
              <a:t>包装段</a:t>
            </a:r>
            <a:r>
              <a:rPr lang="en-US" altLang="zh-CN" b="1" dirty="0">
                <a:solidFill>
                  <a:srgbClr val="FFFF00"/>
                </a:solidFill>
              </a:rPr>
              <a:t>:</a:t>
            </a:r>
            <a:r>
              <a:rPr lang="en-US" altLang="zh-CN" b="1" dirty="0">
                <a:solidFill>
                  <a:schemeClr val="bg1"/>
                </a:solidFill>
              </a:rPr>
              <a:t>    </a:t>
            </a:r>
            <a:r>
              <a:rPr lang="en-US" altLang="zh-CN" dirty="0">
                <a:solidFill>
                  <a:schemeClr val="bg1"/>
                </a:solidFill>
              </a:rPr>
              <a:t>http://10.55.4.100/</a:t>
            </a:r>
            <a:r>
              <a:rPr lang="en-US" altLang="zh-CN" dirty="0">
                <a:solidFill>
                  <a:srgbClr val="00B0F0"/>
                </a:solidFill>
              </a:rPr>
              <a:t>Automation</a:t>
            </a:r>
            <a:r>
              <a:rPr lang="en-US" altLang="zh-CN" dirty="0">
                <a:solidFill>
                  <a:schemeClr val="bg1"/>
                </a:solidFill>
              </a:rPr>
              <a:t>/LinkSF.asmx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1FAFFA3-B3B6-4EC6-B83E-BB12F3EBE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71" y="2221158"/>
            <a:ext cx="11410950" cy="310515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0CC2431-AB95-4C9B-89CE-01F711777525}"/>
              </a:ext>
            </a:extLst>
          </p:cNvPr>
          <p:cNvSpPr txBox="1"/>
          <p:nvPr/>
        </p:nvSpPr>
        <p:spPr>
          <a:xfrm>
            <a:off x="419273" y="5759302"/>
            <a:ext cx="5403273" cy="875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Query: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用于自动化设备向</a:t>
            </a:r>
            <a:r>
              <a:rPr lang="en-US" altLang="zh-CN" dirty="0">
                <a:solidFill>
                  <a:schemeClr val="bg1"/>
                </a:solidFill>
              </a:rPr>
              <a:t>MES</a:t>
            </a:r>
            <a:r>
              <a:rPr lang="zh-CN" altLang="en-US" dirty="0">
                <a:solidFill>
                  <a:schemeClr val="bg1"/>
                </a:solidFill>
              </a:rPr>
              <a:t>获取数据</a:t>
            </a:r>
            <a:r>
              <a:rPr lang="en-US" altLang="zh-CN" dirty="0">
                <a:solidFill>
                  <a:schemeClr val="bg1"/>
                </a:solidFill>
              </a:rPr>
              <a:t>(</a:t>
            </a:r>
            <a:r>
              <a:rPr lang="en-US" altLang="zh-CN" dirty="0">
                <a:solidFill>
                  <a:srgbClr val="00B0F0"/>
                </a:solidFill>
              </a:rPr>
              <a:t>check</a:t>
            </a:r>
            <a:r>
              <a:rPr lang="zh-CN" altLang="en-US" dirty="0">
                <a:solidFill>
                  <a:srgbClr val="00B0F0"/>
                </a:solidFill>
              </a:rPr>
              <a:t>逻辑</a:t>
            </a:r>
            <a:r>
              <a:rPr lang="en-US" altLang="zh-CN" dirty="0">
                <a:solidFill>
                  <a:schemeClr val="bg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   ADD:    </a:t>
            </a:r>
            <a:r>
              <a:rPr lang="zh-CN" altLang="en-US" dirty="0">
                <a:solidFill>
                  <a:schemeClr val="bg1"/>
                </a:solidFill>
              </a:rPr>
              <a:t>用于自动化设备向</a:t>
            </a:r>
            <a:r>
              <a:rPr lang="en-US" altLang="zh-CN" dirty="0">
                <a:solidFill>
                  <a:schemeClr val="bg1"/>
                </a:solidFill>
              </a:rPr>
              <a:t>MES</a:t>
            </a:r>
            <a:r>
              <a:rPr lang="zh-CN" altLang="en-US" dirty="0">
                <a:solidFill>
                  <a:schemeClr val="bg1"/>
                </a:solidFill>
              </a:rPr>
              <a:t>传送数据（</a:t>
            </a:r>
            <a:r>
              <a:rPr lang="zh-CN" altLang="en-US" dirty="0">
                <a:solidFill>
                  <a:srgbClr val="00B0F0"/>
                </a:solidFill>
              </a:rPr>
              <a:t>过站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539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455294" y="403252"/>
            <a:ext cx="2367252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Query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传入与输出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3372" y="983673"/>
            <a:ext cx="11793828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</a:rPr>
              <a:t>传入：</a:t>
            </a:r>
            <a:r>
              <a:rPr lang="en-US" altLang="zh-CN" dirty="0">
                <a:solidFill>
                  <a:schemeClr val="bg1"/>
                </a:solidFill>
              </a:rPr>
              <a:t>[{"sn":"GY6CG01HQ1CV","line":"A01-2FAS-01","station":"Check comp1","app":"PTL","fixid":"001","barcode":"BC SEAL|717011700SMSE300A+0112B01C01D12","p":"checkcomp, complist","carrier":""}]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3372" y="2563091"/>
            <a:ext cx="11793828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</a:rPr>
              <a:t>输出：</a:t>
            </a:r>
            <a:r>
              <a:rPr lang="en-US" altLang="zh-CN" dirty="0">
                <a:solidFill>
                  <a:schemeClr val="bg1"/>
                </a:solidFill>
              </a:rPr>
              <a:t>{"Result": "OK","Info": [{"msg": "checkcomp=OK;complist="},]}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3372" y="3193304"/>
            <a:ext cx="11793828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</a:rPr>
              <a:t>备注：</a:t>
            </a:r>
            <a:r>
              <a:rPr lang="zh-CN" altLang="en-US" dirty="0">
                <a:solidFill>
                  <a:schemeClr val="bg1"/>
                </a:solidFill>
              </a:rPr>
              <a:t>输出的</a:t>
            </a:r>
            <a:r>
              <a:rPr lang="en-US" altLang="zh-CN" dirty="0" err="1">
                <a:solidFill>
                  <a:schemeClr val="bg1"/>
                </a:solidFill>
              </a:rPr>
              <a:t>msg</a:t>
            </a:r>
            <a:r>
              <a:rPr lang="zh-CN" altLang="en-US" dirty="0">
                <a:solidFill>
                  <a:schemeClr val="bg1"/>
                </a:solidFill>
              </a:rPr>
              <a:t>里有多少信息取决于传入的</a:t>
            </a:r>
            <a:r>
              <a:rPr lang="en-US" altLang="zh-CN" dirty="0">
                <a:solidFill>
                  <a:schemeClr val="bg1"/>
                </a:solidFill>
              </a:rPr>
              <a:t>P</a:t>
            </a:r>
            <a:r>
              <a:rPr lang="zh-CN" altLang="en-US" dirty="0">
                <a:solidFill>
                  <a:schemeClr val="bg1"/>
                </a:solidFill>
              </a:rPr>
              <a:t>参数，传入有多少个</a:t>
            </a:r>
            <a:r>
              <a:rPr lang="en-US" altLang="zh-CN" dirty="0">
                <a:solidFill>
                  <a:schemeClr val="bg1"/>
                </a:solidFill>
              </a:rPr>
              <a:t>P</a:t>
            </a:r>
            <a:r>
              <a:rPr lang="zh-CN" altLang="en-US" dirty="0">
                <a:solidFill>
                  <a:schemeClr val="bg1"/>
                </a:solidFill>
              </a:rPr>
              <a:t>参数，输出的</a:t>
            </a:r>
            <a:r>
              <a:rPr lang="en-US" altLang="zh-CN" dirty="0" err="1">
                <a:solidFill>
                  <a:schemeClr val="bg1"/>
                </a:solidFill>
              </a:rPr>
              <a:t>msg</a:t>
            </a:r>
            <a:r>
              <a:rPr lang="zh-CN" altLang="en-US" dirty="0">
                <a:solidFill>
                  <a:schemeClr val="bg1"/>
                </a:solidFill>
              </a:rPr>
              <a:t>里就会有多少个值</a:t>
            </a:r>
          </a:p>
        </p:txBody>
      </p:sp>
    </p:spTree>
    <p:extLst>
      <p:ext uri="{BB962C8B-B14F-4D97-AF65-F5344CB8AC3E}">
        <p14:creationId xmlns:p14="http://schemas.microsoft.com/office/powerpoint/2010/main" val="78674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455294" y="403252"/>
            <a:ext cx="2367252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传入与输出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3372" y="2563091"/>
            <a:ext cx="11793828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</a:rPr>
              <a:t>输出：</a:t>
            </a:r>
            <a:r>
              <a:rPr lang="en-US" altLang="zh-CN" dirty="0">
                <a:solidFill>
                  <a:schemeClr val="bg1"/>
                </a:solidFill>
              </a:rPr>
              <a:t>{"Result": "OK","Info": [{"msg": "OK"},]}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3372" y="3193304"/>
            <a:ext cx="11793828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</a:rPr>
              <a:t>备注：</a:t>
            </a:r>
            <a:r>
              <a:rPr lang="zh-CN" altLang="en-US" dirty="0">
                <a:solidFill>
                  <a:schemeClr val="bg1"/>
                </a:solidFill>
              </a:rPr>
              <a:t>输出的</a:t>
            </a:r>
            <a:r>
              <a:rPr lang="en-US" altLang="zh-CN" dirty="0">
                <a:solidFill>
                  <a:schemeClr val="bg1"/>
                </a:solidFill>
              </a:rPr>
              <a:t>Result</a:t>
            </a:r>
            <a:r>
              <a:rPr lang="zh-CN" altLang="en-US" dirty="0">
                <a:solidFill>
                  <a:schemeClr val="bg1"/>
                </a:solidFill>
              </a:rPr>
              <a:t>会有</a:t>
            </a:r>
            <a:r>
              <a:rPr lang="en-US" altLang="zh-CN" dirty="0">
                <a:solidFill>
                  <a:schemeClr val="bg1"/>
                </a:solidFill>
              </a:rPr>
              <a:t>OK/NG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Result</a:t>
            </a:r>
            <a:r>
              <a:rPr lang="zh-CN" altLang="en-US" dirty="0">
                <a:solidFill>
                  <a:schemeClr val="bg1"/>
                </a:solidFill>
              </a:rPr>
              <a:t>就</a:t>
            </a:r>
            <a:r>
              <a:rPr lang="en-US" altLang="zh-CN" dirty="0">
                <a:solidFill>
                  <a:schemeClr val="bg1"/>
                </a:solidFill>
              </a:rPr>
              <a:t>OK</a:t>
            </a:r>
            <a:r>
              <a:rPr lang="zh-CN" altLang="en-US" dirty="0">
                <a:solidFill>
                  <a:schemeClr val="bg1"/>
                </a:solidFill>
              </a:rPr>
              <a:t>表示正常完成，</a:t>
            </a:r>
            <a:r>
              <a:rPr lang="en-US" altLang="zh-CN" dirty="0">
                <a:solidFill>
                  <a:schemeClr val="bg1"/>
                </a:solidFill>
              </a:rPr>
              <a:t>Result</a:t>
            </a:r>
            <a:r>
              <a:rPr lang="zh-CN" altLang="en-US" dirty="0">
                <a:solidFill>
                  <a:schemeClr val="bg1"/>
                </a:solidFill>
              </a:rPr>
              <a:t>是</a:t>
            </a:r>
            <a:r>
              <a:rPr lang="en-US" altLang="zh-CN" dirty="0">
                <a:solidFill>
                  <a:schemeClr val="bg1"/>
                </a:solidFill>
              </a:rPr>
              <a:t>NG</a:t>
            </a:r>
            <a:r>
              <a:rPr lang="zh-CN" altLang="en-US" dirty="0">
                <a:solidFill>
                  <a:schemeClr val="bg1"/>
                </a:solidFill>
              </a:rPr>
              <a:t>的表示异常，此时</a:t>
            </a:r>
            <a:r>
              <a:rPr lang="en-US" altLang="zh-CN" dirty="0" err="1">
                <a:solidFill>
                  <a:schemeClr val="bg1"/>
                </a:solidFill>
              </a:rPr>
              <a:t>msg</a:t>
            </a:r>
            <a:r>
              <a:rPr lang="zh-CN" altLang="en-US" dirty="0">
                <a:solidFill>
                  <a:schemeClr val="bg1"/>
                </a:solidFill>
              </a:rPr>
              <a:t>里会显示异常信息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93372" y="983673"/>
            <a:ext cx="11793828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</a:rPr>
              <a:t>传入：</a:t>
            </a:r>
            <a:r>
              <a:rPr lang="en-US" altLang="zh-CN" dirty="0">
                <a:solidFill>
                  <a:schemeClr val="bg1"/>
                </a:solidFill>
              </a:rPr>
              <a:t>[{"sn":"GY6CG01HQ1CV","line":"A01-2FAS-01","station":"Check comp1","app":"PTL","fixid":"001","barcode":"BC SEAL|717011700SMSE300A+0112B01C01D12","carrier":""}]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34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455294" y="403252"/>
            <a:ext cx="2367252" cy="684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</a:t>
            </a:r>
          </a:p>
          <a:p>
            <a:pPr eaLnBrk="1" hangingPunct="1"/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E6DC4D3-0846-46C9-B903-D49ADE39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416337"/>
              </p:ext>
            </p:extLst>
          </p:nvPr>
        </p:nvGraphicFramePr>
        <p:xfrm>
          <a:off x="772882" y="923955"/>
          <a:ext cx="11016345" cy="58251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9336">
                  <a:extLst>
                    <a:ext uri="{9D8B030D-6E8A-4147-A177-3AD203B41FA5}">
                      <a16:colId xmlns:a16="http://schemas.microsoft.com/office/drawing/2014/main" val="4118956051"/>
                    </a:ext>
                  </a:extLst>
                </a:gridCol>
                <a:gridCol w="1786987">
                  <a:extLst>
                    <a:ext uri="{9D8B030D-6E8A-4147-A177-3AD203B41FA5}">
                      <a16:colId xmlns:a16="http://schemas.microsoft.com/office/drawing/2014/main" val="3316558988"/>
                    </a:ext>
                  </a:extLst>
                </a:gridCol>
                <a:gridCol w="3620840">
                  <a:extLst>
                    <a:ext uri="{9D8B030D-6E8A-4147-A177-3AD203B41FA5}">
                      <a16:colId xmlns:a16="http://schemas.microsoft.com/office/drawing/2014/main" val="1363723400"/>
                    </a:ext>
                  </a:extLst>
                </a:gridCol>
                <a:gridCol w="4409182">
                  <a:extLst>
                    <a:ext uri="{9D8B030D-6E8A-4147-A177-3AD203B41FA5}">
                      <a16:colId xmlns:a16="http://schemas.microsoft.com/office/drawing/2014/main" val="930404719"/>
                    </a:ext>
                  </a:extLst>
                </a:gridCol>
              </a:tblGrid>
              <a:tr h="36407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参数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重要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示例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说明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2923762"/>
                  </a:ext>
                </a:extLst>
              </a:tr>
              <a:tr h="36407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c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必传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c=QUERY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ADD</a:t>
                      </a:r>
                      <a:r>
                        <a:rPr lang="zh-CN" sz="2000" kern="0">
                          <a:effectLst/>
                        </a:rPr>
                        <a:t>或</a:t>
                      </a:r>
                      <a:r>
                        <a:rPr lang="en-US" sz="2000" kern="0">
                          <a:effectLst/>
                        </a:rPr>
                        <a:t>QUERY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0864393"/>
                  </a:ext>
                </a:extLst>
              </a:tr>
              <a:tr h="72814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sn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必传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sn=F9W2222J28MLKKH22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ADD</a:t>
                      </a:r>
                      <a:r>
                        <a:rPr lang="zh-CN" sz="2000" kern="0">
                          <a:effectLst/>
                        </a:rPr>
                        <a:t>为主序号，</a:t>
                      </a:r>
                      <a:r>
                        <a:rPr lang="en-US" sz="2000" kern="0">
                          <a:effectLst/>
                        </a:rPr>
                        <a:t>Query</a:t>
                      </a:r>
                      <a:r>
                        <a:rPr lang="zh-CN" sz="2000" kern="0">
                          <a:effectLst/>
                        </a:rPr>
                        <a:t>可为主序号及材料序号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2852286"/>
                  </a:ext>
                </a:extLst>
              </a:tr>
              <a:tr h="72814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barcode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必传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barcode=H0001,btn11111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格式：材料序号</a:t>
                      </a:r>
                      <a:r>
                        <a:rPr lang="en-US" sz="2000" kern="0">
                          <a:effectLst/>
                        </a:rPr>
                        <a:t>1,</a:t>
                      </a:r>
                      <a:r>
                        <a:rPr lang="zh-CN" sz="2000" kern="0">
                          <a:effectLst/>
                        </a:rPr>
                        <a:t>材料序号</a:t>
                      </a:r>
                      <a:r>
                        <a:rPr lang="en-US" sz="2000" kern="0">
                          <a:effectLst/>
                        </a:rPr>
                        <a:t>2</a:t>
                      </a:r>
                      <a:r>
                        <a:rPr lang="zh-CN" sz="2000" kern="0">
                          <a:effectLst/>
                        </a:rPr>
                        <a:t>，如果不</a:t>
                      </a:r>
                      <a:r>
                        <a:rPr lang="en-US" sz="2000" kern="0">
                          <a:effectLst/>
                        </a:rPr>
                        <a:t>link</a:t>
                      </a:r>
                      <a:r>
                        <a:rPr lang="zh-CN" sz="2000" kern="0">
                          <a:effectLst/>
                        </a:rPr>
                        <a:t>材料只过站即传</a:t>
                      </a:r>
                      <a:r>
                        <a:rPr lang="en-US" sz="2000" kern="0">
                          <a:effectLst/>
                        </a:rPr>
                        <a:t>NA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9669488"/>
                  </a:ext>
                </a:extLst>
              </a:tr>
              <a:tr h="36407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line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必传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Line=A1_2F_HSG_01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按实际线传送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3923221"/>
                  </a:ext>
                </a:extLst>
              </a:tr>
              <a:tr h="36407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station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必传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station=Link BTN holder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按实际站别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1145476"/>
                  </a:ext>
                </a:extLst>
              </a:tr>
              <a:tr h="72814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app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必传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app=PTL</a:t>
                      </a:r>
                      <a:r>
                        <a:rPr lang="zh-CN" altLang="en-US" sz="2000" kern="0" dirty="0">
                          <a:effectLst/>
                        </a:rPr>
                        <a:t>或者</a:t>
                      </a:r>
                      <a:r>
                        <a:rPr lang="en-US" altLang="zh-CN" sz="2000" kern="0" dirty="0">
                          <a:effectLst/>
                        </a:rPr>
                        <a:t>app=PQC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Link</a:t>
                      </a:r>
                      <a:r>
                        <a:rPr lang="zh-CN" sz="2000" kern="0" dirty="0">
                          <a:effectLst/>
                        </a:rPr>
                        <a:t>材料站传</a:t>
                      </a:r>
                      <a:r>
                        <a:rPr lang="en-US" sz="2000" kern="0" dirty="0">
                          <a:effectLst/>
                        </a:rPr>
                        <a:t>PTL</a:t>
                      </a:r>
                      <a:r>
                        <a:rPr lang="zh-CN" sz="2000" kern="0" dirty="0">
                          <a:effectLst/>
                        </a:rPr>
                        <a:t>，</a:t>
                      </a:r>
                      <a:r>
                        <a:rPr lang="zh-CN" altLang="en-US" sz="2000" kern="0" dirty="0">
                          <a:effectLst/>
                        </a:rPr>
                        <a:t>不</a:t>
                      </a:r>
                      <a:r>
                        <a:rPr lang="en-US" altLang="zh-CN" sz="2000" kern="0" dirty="0">
                          <a:effectLst/>
                        </a:rPr>
                        <a:t>link</a:t>
                      </a:r>
                      <a:r>
                        <a:rPr lang="zh-CN" altLang="en-US" sz="2000" kern="0" dirty="0">
                          <a:effectLst/>
                        </a:rPr>
                        <a:t>过站</a:t>
                      </a:r>
                      <a:r>
                        <a:rPr lang="en-US" sz="2000" kern="0" dirty="0">
                          <a:effectLst/>
                        </a:rPr>
                        <a:t>PQC</a:t>
                      </a:r>
                      <a:r>
                        <a:rPr lang="zh-CN" sz="2000" kern="0" dirty="0">
                          <a:effectLst/>
                        </a:rPr>
                        <a:t>，</a:t>
                      </a:r>
                      <a:r>
                        <a:rPr lang="en-US" sz="2000" kern="0" dirty="0">
                          <a:effectLst/>
                        </a:rPr>
                        <a:t>Laser</a:t>
                      </a:r>
                      <a:r>
                        <a:rPr lang="zh-CN" sz="2000" kern="0" dirty="0">
                          <a:effectLst/>
                        </a:rPr>
                        <a:t>镭雕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0123002"/>
                  </a:ext>
                </a:extLst>
              </a:tr>
              <a:tr h="36407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fixid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必传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fixid=ict_001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</a:rPr>
                        <a:t>实际机台</a:t>
                      </a:r>
                      <a:r>
                        <a:rPr lang="en-US" sz="2000" kern="0">
                          <a:effectLst/>
                        </a:rPr>
                        <a:t>ID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0240415"/>
                  </a:ext>
                </a:extLst>
              </a:tr>
              <a:tr h="72814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errcode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不良代码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Errcode=PASS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2000" kern="0" dirty="0">
                          <a:effectLst/>
                        </a:rPr>
                        <a:t>PQC</a:t>
                      </a:r>
                      <a:r>
                        <a:rPr lang="zh-CN" altLang="en-US" sz="2000" kern="0" dirty="0">
                          <a:effectLst/>
                        </a:rPr>
                        <a:t>过站使用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0419772"/>
                  </a:ext>
                </a:extLst>
              </a:tr>
              <a:tr h="72814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carrier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Add</a:t>
                      </a:r>
                      <a:r>
                        <a:rPr lang="zh-CN" sz="2000" kern="0">
                          <a:effectLst/>
                        </a:rPr>
                        <a:t>时必传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carrier=carrier001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有</a:t>
                      </a:r>
                      <a:r>
                        <a:rPr lang="en-US" sz="2000" kern="0" dirty="0">
                          <a:effectLst/>
                        </a:rPr>
                        <a:t>link carrier</a:t>
                      </a:r>
                      <a:r>
                        <a:rPr lang="zh-CN" sz="2000" kern="0" dirty="0">
                          <a:effectLst/>
                        </a:rPr>
                        <a:t>，传</a:t>
                      </a:r>
                      <a:r>
                        <a:rPr lang="en-US" sz="2000" kern="0" dirty="0">
                          <a:effectLst/>
                        </a:rPr>
                        <a:t>carrier</a:t>
                      </a:r>
                      <a:r>
                        <a:rPr lang="zh-CN" sz="2000" kern="0" dirty="0">
                          <a:effectLst/>
                        </a:rPr>
                        <a:t>序号，不</a:t>
                      </a:r>
                      <a:r>
                        <a:rPr lang="en-US" sz="2000" kern="0" dirty="0">
                          <a:effectLst/>
                        </a:rPr>
                        <a:t>link</a:t>
                      </a:r>
                      <a:r>
                        <a:rPr lang="zh-CN" sz="2000" kern="0" dirty="0">
                          <a:effectLst/>
                        </a:rPr>
                        <a:t>传空值</a:t>
                      </a:r>
                      <a:r>
                        <a:rPr lang="zh-CN" altLang="en-US" sz="2000" kern="0" dirty="0">
                          <a:effectLst/>
                        </a:rPr>
                        <a:t>，</a:t>
                      </a:r>
                      <a:r>
                        <a:rPr lang="en-US" altLang="zh-CN" sz="2000" kern="0" dirty="0">
                          <a:effectLst/>
                        </a:rPr>
                        <a:t>checkcarrier</a:t>
                      </a:r>
                      <a:r>
                        <a:rPr lang="zh-CN" altLang="en-US" sz="2000" kern="0" dirty="0">
                          <a:effectLst/>
                        </a:rPr>
                        <a:t>检查治具有无维护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505477"/>
                  </a:ext>
                </a:extLst>
              </a:tr>
              <a:tr h="36407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p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Query</a:t>
                      </a:r>
                      <a:r>
                        <a:rPr lang="zh-CN" sz="2000" kern="0">
                          <a:effectLst/>
                        </a:rPr>
                        <a:t>时必传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p=model,pn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如下面</a:t>
                      </a:r>
                      <a:r>
                        <a:rPr lang="en-US" sz="2000" kern="0" dirty="0">
                          <a:effectLst/>
                        </a:rPr>
                        <a:t>P</a:t>
                      </a:r>
                      <a:r>
                        <a:rPr lang="zh-CN" sz="2000" kern="0" dirty="0">
                          <a:effectLst/>
                        </a:rPr>
                        <a:t>值列表</a:t>
                      </a:r>
                      <a:r>
                        <a:rPr lang="zh-CN" altLang="en-US" sz="2000" kern="0" dirty="0">
                          <a:effectLst/>
                        </a:rPr>
                        <a:t>（</a:t>
                      </a:r>
                      <a:r>
                        <a:rPr lang="zh-CN" altLang="en-US" sz="2000" b="1" kern="0" dirty="0">
                          <a:solidFill>
                            <a:srgbClr val="00B0F0"/>
                          </a:solidFill>
                          <a:effectLst/>
                        </a:rPr>
                        <a:t>多个参数用，隔开</a:t>
                      </a:r>
                      <a:r>
                        <a:rPr lang="zh-CN" altLang="en-US" sz="2000" kern="0" dirty="0">
                          <a:effectLst/>
                        </a:rPr>
                        <a:t>）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3052921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1F910E3F-4997-4D5E-8ABC-CFED430CD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84588" y="2353570"/>
            <a:ext cx="23073392" cy="992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516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455294" y="403252"/>
            <a:ext cx="2367252" cy="684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</a:t>
            </a:r>
          </a:p>
          <a:p>
            <a:pPr eaLnBrk="1" hangingPunct="1"/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1DABFDE-166E-4FF4-89B4-CC8BD342A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772494"/>
              </p:ext>
            </p:extLst>
          </p:nvPr>
        </p:nvGraphicFramePr>
        <p:xfrm>
          <a:off x="659218" y="1040946"/>
          <a:ext cx="3778193" cy="5486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78193">
                  <a:extLst>
                    <a:ext uri="{9D8B030D-6E8A-4147-A177-3AD203B41FA5}">
                      <a16:colId xmlns:a16="http://schemas.microsoft.com/office/drawing/2014/main" val="309837223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P</a:t>
                      </a:r>
                      <a:r>
                        <a:rPr lang="zh-CN" sz="2000" kern="0" dirty="0">
                          <a:effectLst/>
                        </a:rPr>
                        <a:t>值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21158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sn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13341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Model</a:t>
                      </a:r>
                      <a:r>
                        <a:rPr lang="zh-CN" altLang="en-US" sz="2000" kern="0" dirty="0">
                          <a:effectLst/>
                        </a:rPr>
                        <a:t>：机种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440743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wo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13153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PN</a:t>
                      </a:r>
                      <a:r>
                        <a:rPr lang="zh-CN" altLang="en-US" sz="2000" kern="0" dirty="0">
                          <a:effectLst/>
                        </a:rPr>
                        <a:t>；</a:t>
                      </a:r>
                      <a:r>
                        <a:rPr lang="en-US" altLang="zh-CN" sz="2000" kern="0" dirty="0">
                          <a:effectLst/>
                        </a:rPr>
                        <a:t>GB</a:t>
                      </a:r>
                      <a:r>
                        <a:rPr lang="zh-CN" altLang="en-US" sz="2000" kern="0" dirty="0">
                          <a:effectLst/>
                        </a:rPr>
                        <a:t>料号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993845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stage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02341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config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087867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bg1"/>
                          </a:solidFill>
                          <a:effectLst/>
                        </a:rPr>
                        <a:t>Checkrouting:</a:t>
                      </a:r>
                      <a:r>
                        <a:rPr lang="zh-CN" altLang="en-US" sz="2000" kern="0" dirty="0">
                          <a:solidFill>
                            <a:schemeClr val="bg1"/>
                          </a:solidFill>
                          <a:effectLst/>
                        </a:rPr>
                        <a:t>检查流程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082885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2000" dirty="0" err="1">
                          <a:solidFill>
                            <a:schemeClr val="bg1"/>
                          </a:solidFill>
                        </a:rPr>
                        <a:t>Labeltemplate</a:t>
                      </a:r>
                      <a:r>
                        <a:rPr lang="zh-CN" altLang="en-US" sz="2000" dirty="0">
                          <a:solidFill>
                            <a:schemeClr val="bg1"/>
                          </a:solidFill>
                        </a:rPr>
                        <a:t>：</a:t>
                      </a:r>
                      <a:r>
                        <a:rPr lang="en-US" altLang="zh-CN" sz="2000" dirty="0">
                          <a:solidFill>
                            <a:schemeClr val="bg1"/>
                          </a:solidFill>
                        </a:rPr>
                        <a:t>pack</a:t>
                      </a:r>
                      <a:r>
                        <a:rPr lang="zh-CN" altLang="en-US" sz="2000" dirty="0">
                          <a:solidFill>
                            <a:schemeClr val="bg1"/>
                          </a:solidFill>
                        </a:rPr>
                        <a:t>模版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525905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2000" kern="100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bcm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81074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hous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326653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spacer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256906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region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6177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cust_pn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02630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bezel_color</a:t>
                      </a:r>
                      <a:r>
                        <a:rPr lang="zh-CN" altLang="en-US" sz="2000" kern="0" dirty="0">
                          <a:effectLst/>
                        </a:rPr>
                        <a:t>：颜色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67998638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A04EBAE-4A37-4367-8F6E-E31720836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394397"/>
              </p:ext>
            </p:extLst>
          </p:nvPr>
        </p:nvGraphicFramePr>
        <p:xfrm>
          <a:off x="5822546" y="1040946"/>
          <a:ext cx="4603897" cy="5486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03897">
                  <a:extLst>
                    <a:ext uri="{9D8B030D-6E8A-4147-A177-3AD203B41FA5}">
                      <a16:colId xmlns:a16="http://schemas.microsoft.com/office/drawing/2014/main" val="2516744375"/>
                    </a:ext>
                  </a:extLst>
                </a:gridCol>
              </a:tblGrid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Country</a:t>
                      </a:r>
                      <a:r>
                        <a:rPr lang="zh-CN" altLang="en-US" sz="1800" kern="0" dirty="0">
                          <a:effectLst/>
                        </a:rPr>
                        <a:t>国别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22510442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BCM_Artwork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1215101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mod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50965632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moped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2939981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Usb_mac_address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41327471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Udid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74814041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Device_ID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0768453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BB_SNUM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806960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IMEI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5960726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Ecid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12372696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Wifi_mac_address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5762319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bt_mac_address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78790395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BC_ANT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3748985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sensorflex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097845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rxcoilsn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49964589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checkhold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99962368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checkComp</a:t>
                      </a:r>
                      <a:r>
                        <a:rPr lang="zh-CN" alt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：检查</a:t>
                      </a:r>
                      <a:r>
                        <a:rPr lang="en-US" altLang="zh-CN" sz="1800" kern="0" dirty="0">
                          <a:solidFill>
                            <a:schemeClr val="bg1"/>
                          </a:solidFill>
                          <a:effectLst/>
                        </a:rPr>
                        <a:t>bom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5889237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Complist</a:t>
                      </a:r>
                      <a:r>
                        <a:rPr lang="zh-CN" alt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：返回材料特征码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74505030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LaserTemplate</a:t>
                      </a:r>
                      <a:r>
                        <a:rPr lang="zh-CN" alt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：镭雕模版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5345998"/>
                  </a:ext>
                </a:extLst>
              </a:tr>
              <a:tr h="263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Checkcarrier</a:t>
                      </a:r>
                      <a:r>
                        <a:rPr lang="zh-CN" altLang="en-US" sz="1800" kern="0" dirty="0">
                          <a:solidFill>
                            <a:schemeClr val="bg1"/>
                          </a:solidFill>
                          <a:effectLst/>
                        </a:rPr>
                        <a:t>：检查治具是否维护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051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48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378307" y="328824"/>
            <a:ext cx="2924241" cy="684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示例：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checkrouting</a:t>
            </a:r>
          </a:p>
          <a:p>
            <a:pPr eaLnBrk="1" hangingPunct="1"/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3077" y="1494484"/>
            <a:ext cx="10507193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</a:rPr>
              <a:t>PC-SF: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[{"sn":"FGR9452883CN7G956P014","line":"A01-2FT-01","station":"Link NA flex","app":"PTL","fixid":"001","barcode":"N FLEX|C4512312312PKFG12","p":"</a:t>
            </a:r>
            <a:r>
              <a:rPr lang="en-US" altLang="zh-CN" dirty="0">
                <a:solidFill>
                  <a:srgbClr val="00B0F0"/>
                </a:solidFill>
              </a:rPr>
              <a:t>checkrouting</a:t>
            </a:r>
            <a:r>
              <a:rPr lang="en-US" altLang="zh-CN" dirty="0">
                <a:solidFill>
                  <a:srgbClr val="FFFF00"/>
                </a:solidFill>
              </a:rPr>
              <a:t>","carrier":""}]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</a:rPr>
              <a:t>SF-PC: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1.</a:t>
            </a:r>
            <a:r>
              <a:rPr lang="zh-CN" altLang="en-US" dirty="0">
                <a:solidFill>
                  <a:srgbClr val="FFFF00"/>
                </a:solidFill>
              </a:rPr>
              <a:t>流程正确：</a:t>
            </a: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{"Result": "OK","Info": [{"msg": "</a:t>
            </a:r>
            <a:r>
              <a:rPr lang="en-US" altLang="zh-CN" dirty="0">
                <a:solidFill>
                  <a:srgbClr val="00B0F0"/>
                </a:solidFill>
              </a:rPr>
              <a:t>checkrouting=OK</a:t>
            </a:r>
            <a:r>
              <a:rPr lang="en-US" altLang="zh-CN" dirty="0">
                <a:solidFill>
                  <a:srgbClr val="FFFF00"/>
                </a:solidFill>
              </a:rPr>
              <a:t>"},]}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2.</a:t>
            </a:r>
            <a:r>
              <a:rPr lang="zh-CN" altLang="en-US" dirty="0">
                <a:solidFill>
                  <a:srgbClr val="FFFF00"/>
                </a:solidFill>
              </a:rPr>
              <a:t>流程不对，检查</a:t>
            </a:r>
            <a:r>
              <a:rPr lang="en-US" altLang="zh-CN" dirty="0">
                <a:solidFill>
                  <a:srgbClr val="FFFF00"/>
                </a:solidFill>
              </a:rPr>
              <a:t>GB</a:t>
            </a:r>
            <a:r>
              <a:rPr lang="zh-CN" altLang="en-US" dirty="0">
                <a:solidFill>
                  <a:srgbClr val="FFFF00"/>
                </a:solidFill>
              </a:rPr>
              <a:t>流程，</a:t>
            </a:r>
            <a:r>
              <a:rPr lang="en-US" altLang="zh-CN" dirty="0">
                <a:solidFill>
                  <a:srgbClr val="00B0F0"/>
                </a:solidFill>
              </a:rPr>
              <a:t>TO</a:t>
            </a:r>
            <a:r>
              <a:rPr lang="zh-CN" altLang="en-US" dirty="0">
                <a:solidFill>
                  <a:srgbClr val="00B0F0"/>
                </a:solidFill>
              </a:rPr>
              <a:t>：下一流程</a:t>
            </a:r>
            <a:r>
              <a:rPr lang="zh-CN" altLang="en-US" dirty="0">
                <a:solidFill>
                  <a:srgbClr val="FFFF00"/>
                </a:solidFill>
              </a:rPr>
              <a:t>：</a:t>
            </a:r>
            <a:endParaRPr lang="en-US" altLang="zh-CN" dirty="0">
              <a:solidFill>
                <a:srgbClr val="FFFF00"/>
              </a:solidFill>
            </a:endParaRPr>
          </a:p>
          <a:p>
            <a:r>
              <a:rPr lang="zh-CN" altLang="en-US" dirty="0">
                <a:solidFill>
                  <a:srgbClr val="FFFF00"/>
                </a:solidFill>
              </a:rPr>
              <a:t>{"Result": "OK","Info": [{"msg": "wo=TESTBCM-A-001;</a:t>
            </a:r>
            <a:r>
              <a:rPr lang="zh-CN" altLang="en-US" dirty="0">
                <a:solidFill>
                  <a:srgbClr val="FF0000"/>
                </a:solidFill>
              </a:rPr>
              <a:t>checkrouting=From:SA-Coil---To:Encapsulate dispense and UV cure</a:t>
            </a:r>
            <a:r>
              <a:rPr lang="zh-CN" altLang="en-US" dirty="0">
                <a:solidFill>
                  <a:srgbClr val="FFFF00"/>
                </a:solidFill>
              </a:rPr>
              <a:t>"},]}</a:t>
            </a:r>
            <a:endParaRPr lang="en-US" altLang="zh-CN" dirty="0">
              <a:solidFill>
                <a:srgbClr val="FFFF00"/>
              </a:solidFill>
            </a:endParaRPr>
          </a:p>
          <a:p>
            <a:endParaRPr lang="en-US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3.</a:t>
            </a:r>
            <a:r>
              <a:rPr lang="zh-CN" altLang="en-US" dirty="0">
                <a:solidFill>
                  <a:srgbClr val="FFFF00"/>
                </a:solidFill>
              </a:rPr>
              <a:t>流程错误，检查</a:t>
            </a:r>
            <a:r>
              <a:rPr lang="en-US" altLang="zh-CN" dirty="0">
                <a:solidFill>
                  <a:srgbClr val="FFFF00"/>
                </a:solidFill>
              </a:rPr>
              <a:t>station</a:t>
            </a:r>
            <a:r>
              <a:rPr lang="zh-CN" altLang="en-US" dirty="0">
                <a:solidFill>
                  <a:srgbClr val="FFFF00"/>
                </a:solidFill>
              </a:rPr>
              <a:t>是否正确：</a:t>
            </a:r>
            <a:endParaRPr lang="en-US" altLang="zh-CN" dirty="0">
              <a:solidFill>
                <a:srgbClr val="FFFF00"/>
              </a:solidFill>
            </a:endParaRPr>
          </a:p>
          <a:p>
            <a:r>
              <a:rPr lang="zh-CN" altLang="en-US" dirty="0">
                <a:solidFill>
                  <a:srgbClr val="FFFF00"/>
                </a:solidFill>
              </a:rPr>
              <a:t>{"Result": "OK","Info": [{"msg": "</a:t>
            </a:r>
            <a:r>
              <a:rPr lang="zh-CN" altLang="en-US" dirty="0">
                <a:solidFill>
                  <a:srgbClr val="FF0000"/>
                </a:solidFill>
              </a:rPr>
              <a:t>checkrouting=checkRouting NG:Routing outstation information not found</a:t>
            </a:r>
            <a:r>
              <a:rPr lang="zh-CN" altLang="en-US" dirty="0">
                <a:solidFill>
                  <a:srgbClr val="FFFF00"/>
                </a:solidFill>
              </a:rPr>
              <a:t>"},]}</a:t>
            </a: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867A6FE-1947-4630-BE38-6AECE6266742}"/>
              </a:ext>
            </a:extLst>
          </p:cNvPr>
          <p:cNvSpPr txBox="1"/>
          <p:nvPr/>
        </p:nvSpPr>
        <p:spPr>
          <a:xfrm>
            <a:off x="423077" y="860932"/>
            <a:ext cx="10507192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</a:rPr>
              <a:t>Checkrouting</a:t>
            </a:r>
            <a:r>
              <a:rPr lang="zh-CN" altLang="en-US" dirty="0">
                <a:solidFill>
                  <a:schemeClr val="bg1"/>
                </a:solidFill>
              </a:rPr>
              <a:t>检查流程是否正确，返回参数：</a:t>
            </a:r>
            <a:r>
              <a:rPr lang="en-US" altLang="zh-CN" dirty="0">
                <a:solidFill>
                  <a:schemeClr val="bg1"/>
                </a:solidFill>
              </a:rPr>
              <a:t>checkrouting=ok</a:t>
            </a:r>
            <a:r>
              <a:rPr lang="zh-CN" altLang="en-US" dirty="0">
                <a:solidFill>
                  <a:schemeClr val="bg1"/>
                </a:solidFill>
              </a:rPr>
              <a:t>，表示流程正确，否则流程错误。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0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41F4799-0E23-446F-B868-34F5F4AD6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266197" y="1755400"/>
            <a:ext cx="18468222" cy="52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TextBox 105">
            <a:extLst>
              <a:ext uri="{FF2B5EF4-FFF2-40B4-BE49-F238E27FC236}">
                <a16:creationId xmlns:a16="http://schemas.microsoft.com/office/drawing/2014/main" id="{706C4221-CED3-491E-B9E6-C7F0E9924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376" y="253956"/>
            <a:ext cx="2924241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示例：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checkcomp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0AD727-0CF6-4C19-9ED9-751A1507A69E}"/>
              </a:ext>
            </a:extLst>
          </p:cNvPr>
          <p:cNvSpPr txBox="1"/>
          <p:nvPr/>
        </p:nvSpPr>
        <p:spPr>
          <a:xfrm>
            <a:off x="423077" y="860932"/>
            <a:ext cx="11346320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</a:rPr>
              <a:t>checkcomp</a:t>
            </a:r>
            <a:r>
              <a:rPr lang="zh-CN" altLang="en-US" dirty="0">
                <a:solidFill>
                  <a:schemeClr val="bg1"/>
                </a:solidFill>
              </a:rPr>
              <a:t>检查需要</a:t>
            </a:r>
            <a:r>
              <a:rPr lang="en-US" altLang="zh-CN" dirty="0">
                <a:solidFill>
                  <a:schemeClr val="bg1"/>
                </a:solidFill>
              </a:rPr>
              <a:t>link</a:t>
            </a:r>
            <a:r>
              <a:rPr lang="zh-CN" altLang="en-US" dirty="0">
                <a:solidFill>
                  <a:schemeClr val="bg1"/>
                </a:solidFill>
              </a:rPr>
              <a:t>材料的特征码是否正确，返回参数：</a:t>
            </a:r>
            <a:r>
              <a:rPr lang="en-US" altLang="zh-CN" dirty="0">
                <a:solidFill>
                  <a:schemeClr val="bg1"/>
                </a:solidFill>
              </a:rPr>
              <a:t>checkcomp=ok</a:t>
            </a:r>
            <a:r>
              <a:rPr lang="zh-CN" altLang="en-US" dirty="0">
                <a:solidFill>
                  <a:schemeClr val="bg1"/>
                </a:solidFill>
              </a:rPr>
              <a:t>，表示该材料特征码正确可</a:t>
            </a:r>
            <a:r>
              <a:rPr lang="en-US" altLang="zh-CN" dirty="0">
                <a:solidFill>
                  <a:schemeClr val="bg1"/>
                </a:solidFill>
              </a:rPr>
              <a:t>link</a:t>
            </a:r>
            <a:r>
              <a:rPr lang="zh-CN" altLang="en-US" dirty="0">
                <a:solidFill>
                  <a:schemeClr val="bg1"/>
                </a:solidFill>
              </a:rPr>
              <a:t>，否则不能</a:t>
            </a:r>
            <a:r>
              <a:rPr lang="en-US" altLang="zh-CN" dirty="0">
                <a:solidFill>
                  <a:schemeClr val="bg1"/>
                </a:solidFill>
              </a:rPr>
              <a:t>link</a:t>
            </a:r>
            <a:r>
              <a:rPr lang="zh-CN" altLang="en-US" dirty="0">
                <a:solidFill>
                  <a:schemeClr val="bg1"/>
                </a:solidFill>
              </a:rPr>
              <a:t>。</a:t>
            </a:r>
            <a:endParaRPr lang="en-US" altLang="zh-CN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PC-SF: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[{"sn":"FGR22222222N7GG222229","line":"A01-2FT-02","station":"Link NA flex","app":"PTL","fixid":"001","barcode":"N FLEX|C4512312312PPKX12","p":"checkcomp","carrier":""}]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SF-PC: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1.</a:t>
            </a:r>
            <a:r>
              <a:rPr lang="zh-CN" altLang="en-US" dirty="0">
                <a:solidFill>
                  <a:srgbClr val="FFFF00"/>
                </a:solidFill>
              </a:rPr>
              <a:t>该材料可用正常使用：</a:t>
            </a: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{"Result": "OK","Info": [{"msg": "</a:t>
            </a:r>
            <a:r>
              <a:rPr lang="en-US" altLang="zh-CN" dirty="0">
                <a:solidFill>
                  <a:srgbClr val="00B0F0"/>
                </a:solidFill>
              </a:rPr>
              <a:t>checkcomp=OK</a:t>
            </a:r>
            <a:r>
              <a:rPr lang="en-US" altLang="zh-CN" dirty="0">
                <a:solidFill>
                  <a:srgbClr val="FFFF00"/>
                </a:solidFill>
              </a:rPr>
              <a:t>"},]}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2.</a:t>
            </a:r>
            <a:r>
              <a:rPr lang="zh-CN" altLang="en-US" dirty="0">
                <a:solidFill>
                  <a:srgbClr val="FFFF00"/>
                </a:solidFill>
              </a:rPr>
              <a:t>材料特征码没有维护，或者刷错料：</a:t>
            </a: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{"Result": "OK","Info": [{"msg": "</a:t>
            </a:r>
            <a:r>
              <a:rPr lang="en-US" altLang="zh-CN" dirty="0">
                <a:solidFill>
                  <a:srgbClr val="FF0000"/>
                </a:solidFill>
              </a:rPr>
              <a:t>checkcomp=</a:t>
            </a:r>
            <a:r>
              <a:rPr lang="zh-CN" altLang="en-US" dirty="0">
                <a:solidFill>
                  <a:srgbClr val="FF0000"/>
                </a:solidFill>
              </a:rPr>
              <a:t>序号</a:t>
            </a:r>
            <a:r>
              <a:rPr lang="en-US" altLang="zh-CN" dirty="0">
                <a:solidFill>
                  <a:srgbClr val="FF0000"/>
                </a:solidFill>
              </a:rPr>
              <a:t>:C4512312312PPKX121,</a:t>
            </a:r>
            <a:r>
              <a:rPr lang="zh-CN" altLang="en-US" dirty="0">
                <a:solidFill>
                  <a:srgbClr val="FF0000"/>
                </a:solidFill>
              </a:rPr>
              <a:t>没有定义相应规则的特殊码</a:t>
            </a:r>
            <a:r>
              <a:rPr lang="en-US" altLang="zh-CN" dirty="0">
                <a:solidFill>
                  <a:srgbClr val="FFFF00"/>
                </a:solidFill>
              </a:rPr>
              <a:t>"},]}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3.</a:t>
            </a:r>
            <a:r>
              <a:rPr lang="zh-CN" altLang="en-US" dirty="0">
                <a:solidFill>
                  <a:srgbClr val="FFFF00"/>
                </a:solidFill>
              </a:rPr>
              <a:t>该材料已被使用过：</a:t>
            </a: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{"Result": "OK","Info": [{"msg": "</a:t>
            </a:r>
            <a:r>
              <a:rPr lang="en-US" altLang="zh-CN" dirty="0">
                <a:solidFill>
                  <a:srgbClr val="FF0000"/>
                </a:solidFill>
              </a:rPr>
              <a:t>checkcomp=</a:t>
            </a:r>
            <a:r>
              <a:rPr lang="zh-CN" altLang="en-US" dirty="0">
                <a:solidFill>
                  <a:srgbClr val="FF0000"/>
                </a:solidFill>
              </a:rPr>
              <a:t>序号</a:t>
            </a:r>
            <a:r>
              <a:rPr lang="en-US" altLang="zh-CN" dirty="0">
                <a:solidFill>
                  <a:srgbClr val="FF0000"/>
                </a:solidFill>
              </a:rPr>
              <a:t>:C4512312312PPKX12,</a:t>
            </a:r>
            <a:r>
              <a:rPr lang="zh-CN" altLang="en-US" dirty="0">
                <a:solidFill>
                  <a:srgbClr val="FF0000"/>
                </a:solidFill>
              </a:rPr>
              <a:t>已经被使用过，不能重复使用</a:t>
            </a:r>
            <a:r>
              <a:rPr lang="en-US" altLang="zh-CN" dirty="0">
                <a:solidFill>
                  <a:srgbClr val="FFFF00"/>
                </a:solidFill>
              </a:rPr>
              <a:t>!"},]}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76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05">
            <a:extLst>
              <a:ext uri="{FF2B5EF4-FFF2-40B4-BE49-F238E27FC236}">
                <a16:creationId xmlns:a16="http://schemas.microsoft.com/office/drawing/2014/main" id="{CD8CFE5E-5360-45DB-9CF0-580BFCC03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744" y="302930"/>
            <a:ext cx="2924241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示例：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checkcarrier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9F92126-9AF4-4ED6-AFF6-80D3777371E3}"/>
              </a:ext>
            </a:extLst>
          </p:cNvPr>
          <p:cNvSpPr txBox="1"/>
          <p:nvPr/>
        </p:nvSpPr>
        <p:spPr>
          <a:xfrm>
            <a:off x="310825" y="858638"/>
            <a:ext cx="11346320" cy="5035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</a:rPr>
              <a:t>checkcarrier</a:t>
            </a:r>
            <a:r>
              <a:rPr lang="zh-CN" altLang="en-US" dirty="0">
                <a:solidFill>
                  <a:schemeClr val="bg1"/>
                </a:solidFill>
              </a:rPr>
              <a:t>检查治具是否正确，系统是否维护，正确返回参数：</a:t>
            </a:r>
            <a:r>
              <a:rPr lang="en-US" altLang="zh-CN" dirty="0">
                <a:solidFill>
                  <a:schemeClr val="bg1"/>
                </a:solidFill>
              </a:rPr>
              <a:t> checkcarrier=OK,</a:t>
            </a:r>
            <a:r>
              <a:rPr lang="zh-CN" altLang="en-US" dirty="0">
                <a:solidFill>
                  <a:schemeClr val="bg1"/>
                </a:solidFill>
              </a:rPr>
              <a:t>不需要</a:t>
            </a:r>
            <a:r>
              <a:rPr lang="en-US" altLang="zh-CN" dirty="0">
                <a:solidFill>
                  <a:schemeClr val="bg1"/>
                </a:solidFill>
              </a:rPr>
              <a:t>link</a:t>
            </a:r>
            <a:r>
              <a:rPr lang="zh-CN" altLang="en-US" dirty="0">
                <a:solidFill>
                  <a:schemeClr val="bg1"/>
                </a:solidFill>
              </a:rPr>
              <a:t>治具</a:t>
            </a:r>
            <a:r>
              <a:rPr lang="en-US" altLang="zh-CN" dirty="0">
                <a:solidFill>
                  <a:schemeClr val="bg1"/>
                </a:solidFill>
              </a:rPr>
              <a:t>:</a:t>
            </a:r>
            <a:r>
              <a:rPr lang="en-US" altLang="zh-CN" dirty="0">
                <a:solidFill>
                  <a:srgbClr val="00B0F0"/>
                </a:solidFill>
              </a:rPr>
              <a:t>carrier=“”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PC-SF: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[{"sn":"FGR22222222N7GG222229","line":"A01-2FT-02","station":"Link NA flex","app":"PTL","fixid":"001","barcode":"N FLEX|C4512312312PPKX12","p":"checkcarrier","carrier":"LA1AC-AME-P2-2516&amp;OL0001301"}]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SF-PC: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1.</a:t>
            </a:r>
            <a:r>
              <a:rPr lang="zh-CN" altLang="en-US" dirty="0">
                <a:solidFill>
                  <a:srgbClr val="FFFF00"/>
                </a:solidFill>
              </a:rPr>
              <a:t>该治具可用正常使用：</a:t>
            </a: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{"Result": "OK","Info": [{"msg": "</a:t>
            </a:r>
            <a:r>
              <a:rPr lang="en-US" altLang="zh-CN" dirty="0">
                <a:solidFill>
                  <a:srgbClr val="00B0F0"/>
                </a:solidFill>
              </a:rPr>
              <a:t>checkcarrier=OK</a:t>
            </a:r>
            <a:r>
              <a:rPr lang="en-US" altLang="zh-CN" dirty="0">
                <a:solidFill>
                  <a:srgbClr val="FFFF00"/>
                </a:solidFill>
              </a:rPr>
              <a:t>"},]}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2.</a:t>
            </a:r>
            <a:r>
              <a:rPr lang="zh-CN" altLang="en-US" dirty="0">
                <a:solidFill>
                  <a:srgbClr val="FFFF00"/>
                </a:solidFill>
              </a:rPr>
              <a:t>治具没有维护或者治具编号刷错：</a:t>
            </a: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{"Result": "OK","Info": [{"msg": "</a:t>
            </a:r>
            <a:r>
              <a:rPr lang="en-US" altLang="zh-CN" dirty="0">
                <a:solidFill>
                  <a:srgbClr val="FF0000"/>
                </a:solidFill>
              </a:rPr>
              <a:t>checkcarrier=NG</a:t>
            </a:r>
            <a:r>
              <a:rPr lang="en-US" altLang="zh-CN" dirty="0">
                <a:solidFill>
                  <a:srgbClr val="FFFF00"/>
                </a:solidFill>
              </a:rPr>
              <a:t>"},]}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52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05">
            <a:extLst>
              <a:ext uri="{FF2B5EF4-FFF2-40B4-BE49-F238E27FC236}">
                <a16:creationId xmlns:a16="http://schemas.microsoft.com/office/drawing/2014/main" id="{CD8CFE5E-5360-45DB-9CF0-580BFCC03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744" y="302930"/>
            <a:ext cx="2924241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示例：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Laser/packing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9F92126-9AF4-4ED6-AFF6-80D3777371E3}"/>
              </a:ext>
            </a:extLst>
          </p:cNvPr>
          <p:cNvSpPr txBox="1"/>
          <p:nvPr/>
        </p:nvSpPr>
        <p:spPr>
          <a:xfrm>
            <a:off x="310825" y="858638"/>
            <a:ext cx="11346320" cy="5450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PC-SF: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[{"sn":"TES01654TEST","line":"A01-2FAS-01","station":"Laser etching 11","app":"Laser","fixid":"001","barcode":"NA","p":"PN,checkrouting,checkcarrier,bezel_color,country,LaserTemplate,model,WO","carrier":"001"}]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SF-PC: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{"Result": "OK","Info": [{"msg": "</a:t>
            </a:r>
            <a:r>
              <a:rPr lang="en-US" altLang="zh-CN" dirty="0">
                <a:solidFill>
                  <a:srgbClr val="00B0F0"/>
                </a:solidFill>
              </a:rPr>
              <a:t>LaserTemplate=LA1A-AL-HC</a:t>
            </a:r>
            <a:r>
              <a:rPr lang="en-US" altLang="zh-CN" dirty="0">
                <a:solidFill>
                  <a:srgbClr val="FFFF00"/>
                </a:solidFill>
              </a:rPr>
              <a:t>;PN=L00WS346-CS-H-2A;checkrouting=From:Laser etching 11---To:Folsom IR Dino check FATP;checkcarrier=OK;</a:t>
            </a:r>
            <a:r>
              <a:rPr lang="en-US" altLang="zh-CN" dirty="0">
                <a:solidFill>
                  <a:srgbClr val="00B0F0"/>
                </a:solidFill>
              </a:rPr>
              <a:t>country=LL;model=LA1A;bezel_color=30</a:t>
            </a:r>
            <a:r>
              <a:rPr lang="en-US" altLang="zh-CN" dirty="0">
                <a:solidFill>
                  <a:srgbClr val="FFFF00"/>
                </a:solidFill>
              </a:rPr>
              <a:t>;WO=TESTGB0005"},]}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1. Labeltemplate /LaserTemplate</a:t>
            </a:r>
            <a:r>
              <a:rPr lang="zh-CN" altLang="en-US" dirty="0">
                <a:solidFill>
                  <a:srgbClr val="FFFF00"/>
                </a:solidFill>
              </a:rPr>
              <a:t>：返回模版名</a:t>
            </a: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2. country;model;bezel_color</a:t>
            </a:r>
            <a:r>
              <a:rPr lang="zh-CN" altLang="en-US" dirty="0">
                <a:solidFill>
                  <a:srgbClr val="FFFF00"/>
                </a:solidFill>
              </a:rPr>
              <a:t>：国别，机种，颜色</a:t>
            </a: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3.PN</a:t>
            </a:r>
            <a:r>
              <a:rPr lang="zh-CN" altLang="en-US" dirty="0">
                <a:solidFill>
                  <a:srgbClr val="FFFF00"/>
                </a:solidFill>
              </a:rPr>
              <a:t>返回</a:t>
            </a:r>
            <a:r>
              <a:rPr lang="en-US" altLang="zh-CN" dirty="0">
                <a:solidFill>
                  <a:srgbClr val="FFFF00"/>
                </a:solidFill>
              </a:rPr>
              <a:t>GB</a:t>
            </a:r>
            <a:r>
              <a:rPr lang="zh-CN" altLang="en-US" dirty="0">
                <a:solidFill>
                  <a:srgbClr val="FFFF00"/>
                </a:solidFill>
              </a:rPr>
              <a:t>料号，</a:t>
            </a:r>
            <a:r>
              <a:rPr lang="en-US" altLang="zh-CN" dirty="0">
                <a:solidFill>
                  <a:srgbClr val="FFFF00"/>
                </a:solidFill>
              </a:rPr>
              <a:t>complist</a:t>
            </a:r>
            <a:r>
              <a:rPr lang="zh-CN" altLang="en-US" dirty="0">
                <a:solidFill>
                  <a:srgbClr val="FFFF00"/>
                </a:solidFill>
              </a:rPr>
              <a:t>可用返回该站料号及特征码</a:t>
            </a:r>
            <a:endParaRPr lang="en-US" altLang="zh-CN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86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455294" y="403252"/>
            <a:ext cx="2367252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参数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23076" y="1654539"/>
            <a:ext cx="8465741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PC-SF: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[{“sn”:“FGR22222222N7GG222223”,“line”:“A01-2FT-02”,“station”:“Link NA flex”,“app”:“PTL”,“fixid”:“001”,“barcode”:“N FLEX|C4512312312PPKX12”,“p”:“checkcomp,checkrounting,</a:t>
            </a:r>
            <a:r>
              <a:rPr lang="en-US" altLang="zh-CN" b="1" dirty="0">
                <a:solidFill>
                  <a:srgbClr val="00B0F0"/>
                </a:solidFill>
              </a:rPr>
              <a:t>complist,wo,pn</a:t>
            </a:r>
            <a:r>
              <a:rPr lang="en-US" altLang="zh-CN" b="1" dirty="0">
                <a:solidFill>
                  <a:srgbClr val="FFFF00"/>
                </a:solidFill>
              </a:rPr>
              <a:t>","carrier":"LA1AC-AME-P2-2516&amp;OL00013011"}]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05">
            <a:extLst>
              <a:ext uri="{FF2B5EF4-FFF2-40B4-BE49-F238E27FC236}">
                <a16:creationId xmlns:a16="http://schemas.microsoft.com/office/drawing/2014/main" id="{6C69D726-46EE-44A1-A387-87EC8FCF3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83" y="1087692"/>
            <a:ext cx="8353935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可带多个参数“</a:t>
            </a: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”隔开。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EB697F-1674-4633-B4BE-346B4758FD01}"/>
              </a:ext>
            </a:extLst>
          </p:cNvPr>
          <p:cNvSpPr/>
          <p:nvPr/>
        </p:nvSpPr>
        <p:spPr>
          <a:xfrm>
            <a:off x="492350" y="4285497"/>
            <a:ext cx="825824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SF-PC:</a:t>
            </a:r>
          </a:p>
          <a:p>
            <a:endParaRPr lang="en-US" altLang="zh-CN" dirty="0">
              <a:solidFill>
                <a:srgbClr val="FFFF00"/>
              </a:solidFill>
            </a:endParaRPr>
          </a:p>
          <a:p>
            <a:r>
              <a:rPr lang="zh-CN" altLang="en-US" dirty="0">
                <a:solidFill>
                  <a:srgbClr val="FFFF00"/>
                </a:solidFill>
              </a:rPr>
              <a:t>返回材料特征码，工单号，</a:t>
            </a:r>
            <a:r>
              <a:rPr lang="en-US" altLang="zh-CN" dirty="0">
                <a:solidFill>
                  <a:srgbClr val="FFFF00"/>
                </a:solidFill>
              </a:rPr>
              <a:t>GB</a:t>
            </a:r>
            <a:r>
              <a:rPr lang="zh-CN" altLang="en-US" dirty="0">
                <a:solidFill>
                  <a:srgbClr val="FFFF00"/>
                </a:solidFill>
              </a:rPr>
              <a:t>料号</a:t>
            </a:r>
            <a:endParaRPr lang="en-US" altLang="zh-CN" dirty="0">
              <a:solidFill>
                <a:srgbClr val="FFFF00"/>
              </a:solidFill>
            </a:endParaRPr>
          </a:p>
          <a:p>
            <a:r>
              <a:rPr lang="zh-CN" altLang="en-US" dirty="0">
                <a:solidFill>
                  <a:srgbClr val="FFFF00"/>
                </a:solidFill>
              </a:rPr>
              <a:t>{"Result": "OK","Info": [{"msg": "config=CS-R12b-f;wo=</a:t>
            </a:r>
            <a:r>
              <a:rPr lang="zh-CN" altLang="en-US" dirty="0">
                <a:solidFill>
                  <a:srgbClr val="00B0F0"/>
                </a:solidFill>
              </a:rPr>
              <a:t>TESTBCM-A-002</a:t>
            </a:r>
            <a:r>
              <a:rPr lang="zh-CN" altLang="en-US" dirty="0">
                <a:solidFill>
                  <a:srgbClr val="FFFF00"/>
                </a:solidFill>
              </a:rPr>
              <a:t>;complist=121-0000Z0-104H|N FLEX|0|</a:t>
            </a:r>
            <a:r>
              <a:rPr lang="zh-CN" altLang="en-US" dirty="0">
                <a:solidFill>
                  <a:srgbClr val="00B0F0"/>
                </a:solidFill>
              </a:rPr>
              <a:t>C45********PPKX**</a:t>
            </a:r>
            <a:r>
              <a:rPr lang="zh-CN" altLang="en-US" dirty="0">
                <a:solidFill>
                  <a:srgbClr val="FFFF00"/>
                </a:solidFill>
              </a:rPr>
              <a:t>,121-0000Z0-104H|N FLEX|0|</a:t>
            </a:r>
            <a:r>
              <a:rPr lang="zh-CN" altLang="en-US" dirty="0">
                <a:solidFill>
                  <a:srgbClr val="00B0F0"/>
                </a:solidFill>
              </a:rPr>
              <a:t>C46********PKFG**</a:t>
            </a:r>
            <a:r>
              <a:rPr lang="zh-CN" altLang="en-US" dirty="0">
                <a:solidFill>
                  <a:srgbClr val="FFFF00"/>
                </a:solidFill>
              </a:rPr>
              <a:t>;pn=</a:t>
            </a:r>
            <a:r>
              <a:rPr lang="zh-CN" altLang="en-US" dirty="0">
                <a:solidFill>
                  <a:srgbClr val="00B0F0"/>
                </a:solidFill>
              </a:rPr>
              <a:t>L00WS207-CS-H-BCM</a:t>
            </a:r>
            <a:r>
              <a:rPr lang="zh-CN" altLang="en-US" dirty="0">
                <a:solidFill>
                  <a:srgbClr val="FFFF00"/>
                </a:solidFill>
              </a:rPr>
              <a:t>"},]}</a:t>
            </a:r>
          </a:p>
        </p:txBody>
      </p:sp>
    </p:spTree>
    <p:extLst>
      <p:ext uri="{BB962C8B-B14F-4D97-AF65-F5344CB8AC3E}">
        <p14:creationId xmlns:p14="http://schemas.microsoft.com/office/powerpoint/2010/main" val="164094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455294" y="403252"/>
            <a:ext cx="3094362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 error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信息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05">
            <a:extLst>
              <a:ext uri="{FF2B5EF4-FFF2-40B4-BE49-F238E27FC236}">
                <a16:creationId xmlns:a16="http://schemas.microsoft.com/office/drawing/2014/main" id="{87B10999-92D2-4553-8149-4BD3E6FED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83" y="1087692"/>
            <a:ext cx="11490540" cy="533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dirty="0">
                <a:solidFill>
                  <a:srgbClr val="FFFF00"/>
                </a:solidFill>
              </a:rPr>
              <a:t>1.line error(</a:t>
            </a:r>
            <a:r>
              <a:rPr lang="zh-CN" altLang="zh-CN" dirty="0">
                <a:solidFill>
                  <a:srgbClr val="FFFF00"/>
                </a:solidFill>
              </a:rPr>
              <a:t>线体不对</a:t>
            </a:r>
            <a:r>
              <a:rPr lang="en-US" altLang="zh-CN" dirty="0">
                <a:solidFill>
                  <a:srgbClr val="FFFF00"/>
                </a:solidFill>
              </a:rPr>
              <a:t>)</a:t>
            </a:r>
            <a:r>
              <a:rPr lang="zh-CN" altLang="zh-CN" dirty="0">
                <a:solidFill>
                  <a:srgbClr val="FFFF00"/>
                </a:solidFill>
              </a:rPr>
              <a:t>：</a:t>
            </a:r>
          </a:p>
          <a:p>
            <a:r>
              <a:rPr lang="en-US" altLang="zh-CN" dirty="0">
                <a:solidFill>
                  <a:srgbClr val="FFFF00"/>
                </a:solidFill>
              </a:rPr>
              <a:t>{"Result": "OK","Info": [{"msg": "checkcarrier=OK;</a:t>
            </a:r>
            <a:r>
              <a:rPr lang="en-US" altLang="zh-CN" dirty="0">
                <a:solidFill>
                  <a:srgbClr val="FF0000"/>
                </a:solidFill>
              </a:rPr>
              <a:t>checkrouting=checkRouting NG:Routing Instance information not found</a:t>
            </a:r>
            <a:r>
              <a:rPr lang="en-US" altLang="zh-CN" dirty="0">
                <a:solidFill>
                  <a:srgbClr val="FFFF00"/>
                </a:solidFill>
              </a:rPr>
              <a:t>"},]}</a:t>
            </a:r>
            <a:endParaRPr lang="zh-CN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 </a:t>
            </a:r>
            <a:endParaRPr lang="zh-CN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2.station error(</a:t>
            </a:r>
            <a:r>
              <a:rPr lang="zh-CN" altLang="zh-CN" dirty="0">
                <a:solidFill>
                  <a:srgbClr val="FFFF00"/>
                </a:solidFill>
              </a:rPr>
              <a:t>制程名不对</a:t>
            </a:r>
            <a:r>
              <a:rPr lang="en-US" altLang="zh-CN" dirty="0">
                <a:solidFill>
                  <a:srgbClr val="FFFF00"/>
                </a:solidFill>
              </a:rPr>
              <a:t>):</a:t>
            </a:r>
            <a:endParaRPr lang="zh-CN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{"Result": "OK","Info": [{"msg": "checkcarrier=OK;</a:t>
            </a:r>
            <a:r>
              <a:rPr lang="en-US" altLang="zh-CN" dirty="0">
                <a:solidFill>
                  <a:srgbClr val="FF0000"/>
                </a:solidFill>
              </a:rPr>
              <a:t>checkrouting=checkRouting NG:Routing outstation information not found</a:t>
            </a:r>
            <a:r>
              <a:rPr lang="en-US" altLang="zh-CN" dirty="0">
                <a:solidFill>
                  <a:srgbClr val="FFFF00"/>
                </a:solidFill>
              </a:rPr>
              <a:t>"},]}</a:t>
            </a:r>
            <a:endParaRPr lang="zh-CN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 </a:t>
            </a:r>
            <a:endParaRPr lang="zh-CN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3.sn error</a:t>
            </a:r>
            <a:r>
              <a:rPr lang="zh-CN" altLang="zh-CN" dirty="0">
                <a:solidFill>
                  <a:srgbClr val="FFFF00"/>
                </a:solidFill>
              </a:rPr>
              <a:t>（</a:t>
            </a:r>
            <a:r>
              <a:rPr lang="en-US" altLang="zh-CN" dirty="0">
                <a:solidFill>
                  <a:srgbClr val="FFFF00"/>
                </a:solidFill>
              </a:rPr>
              <a:t>SN</a:t>
            </a:r>
            <a:r>
              <a:rPr lang="zh-CN" altLang="zh-CN" dirty="0">
                <a:solidFill>
                  <a:srgbClr val="FFFF00"/>
                </a:solidFill>
              </a:rPr>
              <a:t>长度或者特征码不对，检查</a:t>
            </a:r>
            <a:r>
              <a:rPr lang="en-US" altLang="zh-CN" dirty="0">
                <a:solidFill>
                  <a:srgbClr val="FFFF00"/>
                </a:solidFill>
              </a:rPr>
              <a:t>SN</a:t>
            </a:r>
            <a:r>
              <a:rPr lang="zh-CN" altLang="zh-CN" dirty="0">
                <a:solidFill>
                  <a:srgbClr val="FFFF00"/>
                </a:solidFill>
              </a:rPr>
              <a:t>是否有问题）：</a:t>
            </a:r>
          </a:p>
          <a:p>
            <a:r>
              <a:rPr lang="en-US" altLang="zh-CN" dirty="0">
                <a:solidFill>
                  <a:srgbClr val="FFFF00"/>
                </a:solidFill>
              </a:rPr>
              <a:t>{"Result": "OK","Info": [{"msg": "checkcarrier=OK;</a:t>
            </a:r>
            <a:r>
              <a:rPr lang="en-US" altLang="zh-CN" dirty="0">
                <a:solidFill>
                  <a:srgbClr val="FF0000"/>
                </a:solidFill>
              </a:rPr>
              <a:t>checkrouting=checkRouting NG:Routing outstation information not found</a:t>
            </a:r>
            <a:r>
              <a:rPr lang="en-US" altLang="zh-CN" dirty="0">
                <a:solidFill>
                  <a:srgbClr val="FFFF00"/>
                </a:solidFill>
              </a:rPr>
              <a:t>"},]}</a:t>
            </a:r>
            <a:endParaRPr lang="zh-CN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 </a:t>
            </a:r>
            <a:endParaRPr lang="zh-CN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4.station </a:t>
            </a:r>
            <a:r>
              <a:rPr lang="zh-CN" altLang="zh-CN" dirty="0">
                <a:solidFill>
                  <a:srgbClr val="FFFF00"/>
                </a:solidFill>
              </a:rPr>
              <a:t>不在此站（</a:t>
            </a:r>
            <a:r>
              <a:rPr lang="en-US" altLang="zh-CN" dirty="0">
                <a:solidFill>
                  <a:srgbClr val="FFFF00"/>
                </a:solidFill>
              </a:rPr>
              <a:t>SN</a:t>
            </a:r>
            <a:r>
              <a:rPr lang="zh-CN" altLang="zh-CN" dirty="0">
                <a:solidFill>
                  <a:srgbClr val="FFFF00"/>
                </a:solidFill>
              </a:rPr>
              <a:t>的流程不在此站，可先查询此</a:t>
            </a:r>
            <a:r>
              <a:rPr lang="en-US" altLang="zh-CN" dirty="0">
                <a:solidFill>
                  <a:srgbClr val="FFFF00"/>
                </a:solidFill>
              </a:rPr>
              <a:t>SN</a:t>
            </a:r>
            <a:r>
              <a:rPr lang="zh-CN" altLang="zh-CN" dirty="0">
                <a:solidFill>
                  <a:srgbClr val="FFFF00"/>
                </a:solidFill>
              </a:rPr>
              <a:t>流程）</a:t>
            </a:r>
            <a:r>
              <a:rPr lang="en-US" altLang="zh-CN" dirty="0">
                <a:solidFill>
                  <a:srgbClr val="FFFF00"/>
                </a:solidFill>
              </a:rPr>
              <a:t>:</a:t>
            </a:r>
            <a:endParaRPr lang="zh-CN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{"Result": "OK","Info": [{"msg": "checkcarrier=OK;</a:t>
            </a:r>
            <a:r>
              <a:rPr lang="en-US" altLang="zh-CN" dirty="0">
                <a:solidFill>
                  <a:srgbClr val="FF0000"/>
                </a:solidFill>
              </a:rPr>
              <a:t>checkrouting=From:SA-Coil---To:Encapsulate dispense and UV cure</a:t>
            </a:r>
            <a:r>
              <a:rPr lang="en-US" altLang="zh-CN" dirty="0">
                <a:solidFill>
                  <a:srgbClr val="FFFF00"/>
                </a:solidFill>
              </a:rPr>
              <a:t>"},]}</a:t>
            </a:r>
            <a:endParaRPr lang="zh-CN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 </a:t>
            </a:r>
            <a:endParaRPr lang="zh-CN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5.carry error</a:t>
            </a:r>
            <a:r>
              <a:rPr lang="zh-CN" altLang="zh-CN" dirty="0">
                <a:solidFill>
                  <a:srgbClr val="FFFF00"/>
                </a:solidFill>
              </a:rPr>
              <a:t>（治具没有维护或者刷错</a:t>
            </a:r>
            <a:r>
              <a:rPr lang="en-US" altLang="zh-CN" dirty="0">
                <a:solidFill>
                  <a:srgbClr val="FFFF00"/>
                </a:solidFill>
              </a:rPr>
              <a:t>carry sn</a:t>
            </a:r>
            <a:r>
              <a:rPr lang="zh-CN" altLang="zh-CN" dirty="0">
                <a:solidFill>
                  <a:srgbClr val="FFFF00"/>
                </a:solidFill>
              </a:rPr>
              <a:t>）：</a:t>
            </a:r>
          </a:p>
          <a:p>
            <a:r>
              <a:rPr lang="en-US" altLang="zh-CN" dirty="0">
                <a:solidFill>
                  <a:srgbClr val="FFFF00"/>
                </a:solidFill>
              </a:rPr>
              <a:t>{"Result": "OK","Info": [{"msg": "</a:t>
            </a:r>
            <a:r>
              <a:rPr lang="en-US" altLang="zh-CN" dirty="0">
                <a:solidFill>
                  <a:srgbClr val="FF0000"/>
                </a:solidFill>
              </a:rPr>
              <a:t>checkcarrier=NG</a:t>
            </a:r>
            <a:r>
              <a:rPr lang="en-US" altLang="zh-CN" dirty="0">
                <a:solidFill>
                  <a:srgbClr val="FFFF00"/>
                </a:solidFill>
              </a:rPr>
              <a:t>;checkrouting=OK"},]}</a:t>
            </a:r>
            <a:endParaRPr lang="zh-CN" altLang="zh-CN" dirty="0">
              <a:solidFill>
                <a:srgbClr val="FFFF00"/>
              </a:solidFill>
            </a:endParaRPr>
          </a:p>
          <a:p>
            <a:r>
              <a:rPr lang="en-US" altLang="zh-CN" b="1" dirty="0">
                <a:solidFill>
                  <a:srgbClr val="FFFF00"/>
                </a:solidFill>
              </a:rPr>
              <a:t> </a:t>
            </a:r>
            <a:endParaRPr lang="zh-CN" altLang="zh-C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762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AAA1DB-6D58-4752-BD3D-C2F488DE0CD5}"/>
              </a:ext>
            </a:extLst>
          </p:cNvPr>
          <p:cNvSpPr/>
          <p:nvPr/>
        </p:nvSpPr>
        <p:spPr>
          <a:xfrm>
            <a:off x="134126" y="1157268"/>
            <a:ext cx="1175307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6.kpsn error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link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材料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sn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不对，检查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kpsn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与工单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bom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维护是否一致，可用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complist to query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zh-CN" altLang="zh-CN" kern="100" dirty="0">
              <a:solidFill>
                <a:srgbClr val="FFFF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{"Result": "OK","Info": [{"msg": "checkcarrier=OK;</a:t>
            </a:r>
            <a:r>
              <a:rPr lang="en-US" altLang="zh-CN" kern="1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checkcomp=</a:t>
            </a:r>
            <a:r>
              <a:rPr lang="zh-CN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序号</a:t>
            </a:r>
            <a:r>
              <a:rPr lang="en-US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:624,</a:t>
            </a:r>
            <a:r>
              <a:rPr lang="zh-CN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没有定义相应规则的特殊码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complist=121-0000Z0-104H|N FLEX|0|C45********PPKX**;checkrouting=OK"},]} </a:t>
            </a:r>
            <a:endParaRPr lang="zh-CN" altLang="zh-CN" kern="100" dirty="0">
              <a:solidFill>
                <a:srgbClr val="FFFF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FFFF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7.kpsn 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已被使用过（此料已被使用过，检查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kpsn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zh-CN" altLang="zh-CN" kern="100" dirty="0">
              <a:solidFill>
                <a:srgbClr val="FFFF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{"Result":"OK","Info":[{"msg":"</a:t>
            </a:r>
            <a:r>
              <a:rPr lang="en-US" altLang="zh-CN" kern="1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checkcomp</a:t>
            </a:r>
            <a:r>
              <a:rPr lang="zh-CN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序号</a:t>
            </a:r>
            <a:r>
              <a:rPr lang="en-US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:DK312312312PQ1T12,C4712312312M80912,C4712312312PN9K12,</a:t>
            </a:r>
            <a:r>
              <a:rPr lang="zh-CN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已经被使用过，不能重复使用</a:t>
            </a:r>
            <a:r>
              <a:rPr lang="en-US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!</a:t>
            </a:r>
            <a:r>
              <a:rPr lang="en-US" altLang="zh-CN" kern="1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checkcarrier=OK;checkrouting=From:Link Sip SN/3x flex SN---To:COS S2"},]}</a:t>
            </a:r>
            <a:endParaRPr lang="zh-CN" altLang="zh-CN" kern="100" dirty="0">
              <a:solidFill>
                <a:srgbClr val="FFFF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FFFF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FFFF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8.kpsn 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数量与工单不一致（检查上传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kpsn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与工单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bom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数量是否一致）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zh-CN" altLang="zh-CN" kern="100" dirty="0">
              <a:solidFill>
                <a:srgbClr val="FFFF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{"Result": "OK","Info": [{"msg": "</a:t>
            </a:r>
            <a:r>
              <a:rPr lang="en-US" altLang="zh-CN" kern="1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checkcomp=</a:t>
            </a:r>
            <a:r>
              <a:rPr lang="zh-CN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设备只传</a:t>
            </a:r>
            <a:r>
              <a:rPr lang="en-US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个</a:t>
            </a:r>
            <a:r>
              <a:rPr lang="en-US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Barcode,</a:t>
            </a:r>
            <a:r>
              <a:rPr lang="zh-CN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实际需要捡</a:t>
            </a:r>
            <a:r>
              <a:rPr lang="en-US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zh-CN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颗料</a:t>
            </a: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;checkcarrier=OK;checkrouting=From:Link Sip SN/3x flex SN---To:COS S2"},]}</a:t>
            </a:r>
            <a:endParaRPr lang="zh-CN" altLang="zh-CN" kern="100" dirty="0">
              <a:solidFill>
                <a:srgbClr val="FFFF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FFFF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9.SN 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已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link 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过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kpsn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（此站主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SN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已经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link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过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kpsn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，不能在重复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link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zh-CN" altLang="zh-CN" kern="100" dirty="0">
              <a:solidFill>
                <a:srgbClr val="FFFF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{"Result"  "NG","Info"  [{"msg"  </a:t>
            </a:r>
            <a:r>
              <a:rPr lang="en-US" altLang="zh-CN" kern="1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"ORA-00001  </a:t>
            </a:r>
            <a:r>
              <a:rPr lang="zh-CN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违反唯一约束条件</a:t>
            </a:r>
            <a:r>
              <a:rPr lang="en-US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(SHOPFLOOR.PK_PTL_AUTOLINKMATERIAL_COMP)"}</a:t>
            </a:r>
            <a:r>
              <a:rPr lang="en-US" altLang="zh-CN" kern="1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,]}</a:t>
            </a:r>
            <a:endParaRPr lang="zh-CN" altLang="zh-CN" kern="100" dirty="0">
              <a:solidFill>
                <a:srgbClr val="FF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FFFF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10.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参数格式错误（上传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json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格式不对）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zh-CN" altLang="zh-CN" kern="100" dirty="0">
              <a:solidFill>
                <a:srgbClr val="FFFF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{"Result": "NG","Info": [{"msg": "</a:t>
            </a:r>
            <a:r>
              <a:rPr lang="zh-CN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在位置</a:t>
            </a:r>
            <a:r>
              <a:rPr lang="en-US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0 </a:t>
            </a:r>
            <a:r>
              <a:rPr lang="zh-CN" altLang="zh-CN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处没有任何行</a:t>
            </a:r>
            <a:r>
              <a:rPr lang="zh-CN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  <a:r>
              <a:rPr lang="en-US" altLang="zh-CN" kern="100" dirty="0">
                <a:solidFill>
                  <a:srgbClr val="FFFF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"},]}</a:t>
            </a:r>
            <a:endParaRPr lang="zh-CN" altLang="zh-CN" kern="100" dirty="0">
              <a:solidFill>
                <a:srgbClr val="FFFF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05">
            <a:extLst>
              <a:ext uri="{FF2B5EF4-FFF2-40B4-BE49-F238E27FC236}">
                <a16:creationId xmlns:a16="http://schemas.microsoft.com/office/drawing/2014/main" id="{CDE8E50E-97D1-4BEE-BD4C-5AF64FD11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294" y="403252"/>
            <a:ext cx="3094362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 error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信息</a:t>
            </a:r>
          </a:p>
        </p:txBody>
      </p:sp>
    </p:spTree>
    <p:extLst>
      <p:ext uri="{BB962C8B-B14F-4D97-AF65-F5344CB8AC3E}">
        <p14:creationId xmlns:p14="http://schemas.microsoft.com/office/powerpoint/2010/main" val="4083650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flipH="1">
            <a:off x="0" y="780260"/>
            <a:ext cx="5724000" cy="78378"/>
            <a:chOff x="6911145" y="6507480"/>
            <a:chExt cx="4984946" cy="78378"/>
          </a:xfrm>
        </p:grpSpPr>
        <p:sp>
          <p:nvSpPr>
            <p:cNvPr id="7" name="任意多边形 6"/>
            <p:cNvSpPr/>
            <p:nvPr/>
          </p:nvSpPr>
          <p:spPr>
            <a:xfrm flipH="1" flipV="1">
              <a:off x="10182596" y="6507480"/>
              <a:ext cx="1713495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/>
            <p:cNvSpPr/>
            <p:nvPr/>
          </p:nvSpPr>
          <p:spPr>
            <a:xfrm flipH="1" flipV="1">
              <a:off x="8909105" y="6507480"/>
              <a:ext cx="1296000" cy="78378"/>
            </a:xfrm>
            <a:prstGeom prst="parallelogram">
              <a:avLst>
                <a:gd name="adj" fmla="val 163205"/>
              </a:avLst>
            </a:pr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>
            <a:xfrm flipH="1" flipV="1">
              <a:off x="8031615" y="6507480"/>
              <a:ext cx="900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flipH="1" flipV="1">
              <a:off x="765812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flipH="1" flipV="1">
              <a:off x="728463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flipH="1" flipV="1">
              <a:off x="6911145" y="6507480"/>
              <a:ext cx="39600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9" y="-17322"/>
            <a:ext cx="2462813" cy="895568"/>
          </a:xfrm>
          <a:prstGeom prst="rect">
            <a:avLst/>
          </a:prstGeom>
        </p:spPr>
      </p:pic>
      <p:sp>
        <p:nvSpPr>
          <p:cNvPr id="35" name="TextBox 105"/>
          <p:cNvSpPr txBox="1">
            <a:spLocks noChangeArrowheads="1"/>
          </p:cNvSpPr>
          <p:nvPr/>
        </p:nvSpPr>
        <p:spPr bwMode="auto">
          <a:xfrm>
            <a:off x="3455293" y="403252"/>
            <a:ext cx="3083729" cy="3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2" tIns="34281" rIns="68562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C#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调用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webservice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2603" y="1255254"/>
            <a:ext cx="802867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</a:rPr>
              <a:t>                  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5FE0C2F-5C5E-4750-B16B-23BBF4678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28" y="942975"/>
            <a:ext cx="7600950" cy="591502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8C3E1DB-690C-4E08-8ADA-A88DF392931E}"/>
              </a:ext>
            </a:extLst>
          </p:cNvPr>
          <p:cNvSpPr/>
          <p:nvPr/>
        </p:nvSpPr>
        <p:spPr>
          <a:xfrm>
            <a:off x="8451273" y="1361404"/>
            <a:ext cx="339339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LinkSF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sf = new </a:t>
            </a:r>
            <a:r>
              <a:rPr lang="en-US" altLang="zh-CN" dirty="0" err="1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LinkSF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()</a:t>
            </a:r>
          </a:p>
          <a:p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dirty="0">
                <a:highlight>
                  <a:srgbClr val="FFFFFF"/>
                </a:highlight>
              </a:rPr>
              <a:t>String result = </a:t>
            </a:r>
            <a:r>
              <a:rPr lang="en-US" altLang="zh-CN" dirty="0" err="1">
                <a:highlight>
                  <a:srgbClr val="FFFFFF"/>
                </a:highlight>
              </a:rPr>
              <a:t>sf.Query</a:t>
            </a:r>
            <a:r>
              <a:rPr lang="en-US" altLang="zh-CN" dirty="0">
                <a:highlight>
                  <a:srgbClr val="FFFFFF"/>
                </a:highlight>
              </a:rPr>
              <a:t>(json);</a:t>
            </a:r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If(){</a:t>
            </a: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else{</a:t>
            </a:r>
          </a:p>
          <a:p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6906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707"/>
            <a:ext cx="12191999" cy="55951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0"/>
            <a:ext cx="12192000" cy="60470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6185358"/>
            <a:ext cx="12192000" cy="67264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7261678" y="2191657"/>
            <a:ext cx="0" cy="24386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4"/>
          <p:cNvSpPr txBox="1">
            <a:spLocks noChangeArrowheads="1"/>
          </p:cNvSpPr>
          <p:nvPr/>
        </p:nvSpPr>
        <p:spPr bwMode="auto">
          <a:xfrm>
            <a:off x="8366917" y="2907834"/>
            <a:ext cx="173094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53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谢谢</a:t>
            </a:r>
            <a:endParaRPr lang="zh-CN" altLang="en-US" sz="5300" b="1" dirty="0">
              <a:solidFill>
                <a:srgbClr val="FB274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97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5712</TotalTime>
  <Words>1877</Words>
  <Application>Microsoft Office PowerPoint</Application>
  <PresentationFormat>宽屏</PresentationFormat>
  <Paragraphs>206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宋体</vt:lpstr>
      <vt:lpstr>微软雅黑</vt:lpstr>
      <vt:lpstr>新宋体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Bill Dong(LUXSHARE-ICT)</dc:creator>
  <cp:lastModifiedBy>Kejin Hu(LUXSHARE-ICT)</cp:lastModifiedBy>
  <cp:revision>246</cp:revision>
  <dcterms:created xsi:type="dcterms:W3CDTF">2020-02-01T05:06:02Z</dcterms:created>
  <dcterms:modified xsi:type="dcterms:W3CDTF">2020-04-22T03:02:45Z</dcterms:modified>
</cp:coreProperties>
</file>