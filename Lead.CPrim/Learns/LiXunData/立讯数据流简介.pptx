
<file path=[Content_Types].xml><?xml version="1.0" encoding="utf-8"?>
<Types xmlns="http://schemas.openxmlformats.org/package/2006/content-types">
  <Default Extension="jpeg" ContentType="image/jpeg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338" r:id="rId3"/>
    <p:sldId id="423" r:id="rId5"/>
    <p:sldId id="451" r:id="rId6"/>
    <p:sldId id="476" r:id="rId7"/>
    <p:sldId id="478" r:id="rId8"/>
    <p:sldId id="406" r:id="rId9"/>
  </p:sldIdLst>
  <p:sldSz cx="986472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5pPr>
    <a:lvl6pPr marL="2286000" algn="l" defTabSz="914400" rtl="0" eaLnBrk="1" latinLnBrk="0" hangingPunct="1"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6pPr>
    <a:lvl7pPr marL="2743200" algn="l" defTabSz="914400" rtl="0" eaLnBrk="1" latinLnBrk="0" hangingPunct="1"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7pPr>
    <a:lvl8pPr marL="3200400" algn="l" defTabSz="914400" rtl="0" eaLnBrk="1" latinLnBrk="0" hangingPunct="1"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8pPr>
    <a:lvl9pPr marL="3657600" algn="l" defTabSz="914400" rtl="0" eaLnBrk="1" latinLnBrk="0" hangingPunct="1">
      <a:defRPr sz="3200" b="1" kern="1200">
        <a:solidFill>
          <a:srgbClr val="000000"/>
        </a:solidFill>
        <a:latin typeface="微软雅黑" panose="020B0503020204020204" pitchFamily="34" charset="-122"/>
        <a:ea typeface="华文细黑" panose="02010600040101010101" charset="-122"/>
        <a:cs typeface="华文细黑" panose="02010600040101010101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00CC99"/>
    <a:srgbClr val="003366"/>
    <a:srgbClr val="FFFFCC"/>
    <a:srgbClr val="FFFF99"/>
    <a:srgbClr val="99CCFF"/>
    <a:srgbClr val="FF9999"/>
    <a:srgbClr val="FF3300"/>
    <a:srgbClr val="FFCC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66" autoAdjust="0"/>
    <p:restoredTop sz="96076" autoAdjust="0"/>
  </p:normalViewPr>
  <p:slideViewPr>
    <p:cSldViewPr>
      <p:cViewPr varScale="1">
        <p:scale>
          <a:sx n="70" d="100"/>
          <a:sy n="70" d="100"/>
        </p:scale>
        <p:origin x="1008" y="54"/>
      </p:cViewPr>
      <p:guideLst>
        <p:guide orient="horz" pos="2129"/>
        <p:guide pos="31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2820" y="-108"/>
      </p:cViewPr>
      <p:guideLst>
        <p:guide orient="horz" pos="283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4AB1A-C3C3-4412-A118-B282B9E0A0A4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E84C5-5418-478C-948B-AB8C044378A0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29D8F1-19C9-45CC-9D36-BD538408044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62025" y="685800"/>
            <a:ext cx="49339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586B51A-222C-4590-92DA-47F0DB7DC5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8745538" y="6492875"/>
            <a:ext cx="1116012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26DD7E2-9018-4622-94B0-078D34220F02}" type="slidenum">
              <a:rPr lang="zh-CN" altLang="en-US"/>
            </a:fld>
            <a:endParaRPr lang="en-US" alt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9864725" cy="692696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cxnSp>
        <p:nvCxnSpPr>
          <p:cNvPr id="9" name="直接连接符 2"/>
          <p:cNvCxnSpPr/>
          <p:nvPr userDrawn="1"/>
        </p:nvCxnSpPr>
        <p:spPr>
          <a:xfrm>
            <a:off x="125413" y="714375"/>
            <a:ext cx="9607550" cy="0"/>
          </a:xfrm>
          <a:prstGeom prst="line">
            <a:avLst/>
          </a:prstGeom>
          <a:ln w="28575">
            <a:solidFill>
              <a:srgbClr val="286482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2"/>
          <p:cNvCxnSpPr/>
          <p:nvPr userDrawn="1"/>
        </p:nvCxnSpPr>
        <p:spPr>
          <a:xfrm>
            <a:off x="125413" y="714375"/>
            <a:ext cx="9607550" cy="0"/>
          </a:xfrm>
          <a:prstGeom prst="line">
            <a:avLst/>
          </a:prstGeom>
          <a:ln w="28575">
            <a:solidFill>
              <a:srgbClr val="286482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0" y="0"/>
            <a:ext cx="9864725" cy="692696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39775" y="2130425"/>
            <a:ext cx="8385175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79550" y="3886200"/>
            <a:ext cx="6905625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sz="1800" b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370263" y="6356350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5076378" y="6520259"/>
            <a:ext cx="86171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3C5A062-3D2D-4454-A4BD-680C3A37DE60}" type="slidenum">
              <a:rPr lang="zh-TW" altLang="en-US"/>
            </a:fld>
            <a:endParaRPr lang="en-US" sz="1800" b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263" y="6356350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76378" y="6520259"/>
            <a:ext cx="86171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778B1-7F67-4BAF-85CF-88FBD283069C}" type="slidenum">
              <a:rPr lang="zh-CN" alt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D13001\Desktop\修图\音乐盒子 - 副本.jpg音乐盒子 - 副本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861550" cy="688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70263" y="6356350"/>
            <a:ext cx="3124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76378" y="6520259"/>
            <a:ext cx="861715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2F115-FEA9-4263-9B39-58D9B78A9A8B}" type="slidenum">
              <a:rPr lang="zh-CN" alt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3236" y="274638"/>
            <a:ext cx="8878253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3236" y="1600202"/>
            <a:ext cx="887825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3236" y="6356352"/>
            <a:ext cx="2301769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370448" y="6356352"/>
            <a:ext cx="312383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7069720" y="6356352"/>
            <a:ext cx="2301769" cy="365125"/>
          </a:xfrm>
          <a:prstGeom prst="rect">
            <a:avLst/>
          </a:prstGeo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864725" cy="857250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3" name="Picture 8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0555" y="711200"/>
            <a:ext cx="7261006" cy="14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7211" y="6543676"/>
            <a:ext cx="482012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93713" y="274638"/>
            <a:ext cx="88773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3163" tIns="51581" rIns="103163" bIns="51581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93713" y="1600200"/>
            <a:ext cx="88773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3163" tIns="51581" rIns="103163" bIns="51581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93713" y="6356350"/>
            <a:ext cx="2301875" cy="365125"/>
          </a:xfrm>
          <a:prstGeom prst="rect">
            <a:avLst/>
          </a:prstGeom>
        </p:spPr>
        <p:txBody>
          <a:bodyPr vert="horz" wrap="square" lIns="103163" tIns="51581" rIns="103163" bIns="51581" numCol="1" anchor="ctr" anchorCtr="0" compatLnSpc="1"/>
          <a:lstStyle>
            <a:lvl1pPr algn="l" eaLnBrk="1" hangingPunct="1">
              <a:defRPr sz="1400" b="0">
                <a:solidFill>
                  <a:srgbClr val="898989"/>
                </a:solidFill>
                <a:latin typeface="华文细黑" panose="02010600040101010101" charset="-122"/>
                <a:ea typeface="华文细黑" panose="02010600040101010101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文字方塊 6"/>
          <p:cNvSpPr txBox="1"/>
          <p:nvPr/>
        </p:nvSpPr>
        <p:spPr>
          <a:xfrm>
            <a:off x="0" y="6525344"/>
            <a:ext cx="9864725" cy="337185"/>
          </a:xfrm>
          <a:prstGeom prst="rect">
            <a:avLst/>
          </a:prstGeom>
          <a:solidFill>
            <a:srgbClr val="3399FF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zh-TW" sz="1600" dirty="0">
                <a:latin typeface="Microsoft JhengHei" panose="020B0604030504040204" pitchFamily="34" charset="-120"/>
                <a:ea typeface="宋体" panose="02010600030101010101" pitchFamily="2" charset="-122"/>
              </a:rPr>
              <a:t>无锡先导</a:t>
            </a:r>
            <a:r>
              <a:rPr lang="en-US" altLang="zh-CN" sz="1600" dirty="0">
                <a:latin typeface="Microsoft JhengHei" panose="020B0604030504040204" pitchFamily="34" charset="-120"/>
                <a:ea typeface="宋体" panose="02010600030101010101" pitchFamily="2" charset="-122"/>
              </a:rPr>
              <a:t>3C</a:t>
            </a:r>
            <a:r>
              <a:rPr lang="zh-CN" altLang="en-US" sz="1600" dirty="0">
                <a:latin typeface="Microsoft JhengHei" panose="020B0604030504040204" pitchFamily="34" charset="-120"/>
                <a:ea typeface="宋体" panose="02010600030101010101" pitchFamily="2" charset="-122"/>
              </a:rPr>
              <a:t>事业部</a:t>
            </a:r>
            <a:endParaRPr lang="zh-CN" altLang="en-US" sz="1600" dirty="0">
              <a:latin typeface="Microsoft JhengHei" panose="020B0604030504040204" pitchFamily="34" charset="-120"/>
              <a:ea typeface="宋体" panose="02010600030101010101" pitchFamily="2" charset="-122"/>
            </a:endParaRPr>
          </a:p>
        </p:txBody>
      </p:sp>
      <p:sp>
        <p:nvSpPr>
          <p:cNvPr id="9" name="矩形 1"/>
          <p:cNvSpPr>
            <a:spLocks noChangeArrowheads="1"/>
          </p:cNvSpPr>
          <p:nvPr/>
        </p:nvSpPr>
        <p:spPr bwMode="auto">
          <a:xfrm>
            <a:off x="4428306" y="6609159"/>
            <a:ext cx="1066800" cy="246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AC9AB0-9C3D-4CB6-AF67-56584BFB22C5}" type="slidenum"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</a:fld>
            <a:r>
              <a:rPr kumimoji="0" lang="en-US" altLang="zh-TW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/9</a:t>
            </a:r>
            <a:endParaRPr kumimoji="0" lang="en-US" altLang="zh-TW" sz="1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iming>
    <p:tnLst>
      <p:par>
        <p:cTn id="1" dur="indefinite" restart="never" nodeType="tmRoot"/>
      </p:par>
    </p:tnLst>
  </p:timing>
  <p:hf sldNum="0" hdr="0" ftr="0" dt="0"/>
  <p:txStyles>
    <p:titleStyle>
      <a:lvl1pPr algn="ctr" defTabSz="1030605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华文细黑" panose="02010600040101010101" charset="-122"/>
        </a:defRPr>
      </a:lvl1pPr>
      <a:lvl2pPr algn="ctr" defTabSz="1030605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  <a:cs typeface="华文细黑" panose="02010600040101010101" charset="-122"/>
        </a:defRPr>
      </a:lvl2pPr>
      <a:lvl3pPr algn="ctr" defTabSz="1030605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  <a:cs typeface="华文细黑" panose="02010600040101010101" charset="-122"/>
        </a:defRPr>
      </a:lvl3pPr>
      <a:lvl4pPr algn="ctr" defTabSz="1030605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  <a:cs typeface="华文细黑" panose="02010600040101010101" charset="-122"/>
        </a:defRPr>
      </a:lvl4pPr>
      <a:lvl5pPr algn="ctr" defTabSz="1030605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  <a:cs typeface="华文细黑" panose="02010600040101010101" charset="-122"/>
        </a:defRPr>
      </a:lvl5pPr>
      <a:lvl6pPr marL="457200" algn="ctr" defTabSz="103060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</a:defRPr>
      </a:lvl6pPr>
      <a:lvl7pPr marL="914400" algn="ctr" defTabSz="103060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</a:defRPr>
      </a:lvl7pPr>
      <a:lvl8pPr marL="1371600" algn="ctr" defTabSz="103060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</a:defRPr>
      </a:lvl8pPr>
      <a:lvl9pPr marL="1828800" algn="ctr" defTabSz="103060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华文细黑" panose="02010600040101010101" charset="-122"/>
          <a:ea typeface="华文细黑" panose="02010600040101010101" charset="-122"/>
        </a:defRPr>
      </a:lvl9pPr>
    </p:titleStyle>
    <p:bodyStyle>
      <a:lvl1pPr marL="386080" indent="-386080" algn="l" defTabSz="10306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华文细黑" panose="02010600040101010101" charset="-122"/>
        </a:defRPr>
      </a:lvl1pPr>
      <a:lvl2pPr marL="836930" indent="-322580" algn="l" defTabSz="10306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华文细黑" panose="02010600040101010101" charset="-122"/>
        </a:defRPr>
      </a:lvl2pPr>
      <a:lvl3pPr marL="1289050" indent="-257175" algn="l" defTabSz="10306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华文细黑" panose="02010600040101010101" charset="-122"/>
        </a:defRPr>
      </a:lvl3pPr>
      <a:lvl4pPr marL="1805305" indent="-257175" algn="l" defTabSz="10306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华文细黑" panose="02010600040101010101" charset="-122"/>
        </a:defRPr>
      </a:lvl4pPr>
      <a:lvl5pPr marL="2320925" indent="-257175" algn="l" defTabSz="10306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华文细黑" panose="02010600040101010101" charset="-122"/>
        </a:defRPr>
      </a:lvl5pPr>
      <a:lvl6pPr marL="2837180" indent="-257810" algn="l" defTabSz="10318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52800" indent="-257810" algn="l" defTabSz="10318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68420" indent="-257810" algn="l" defTabSz="10318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84675" indent="-257810" algn="l" defTabSz="10318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62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87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749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311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937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499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061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623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GIF"/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blue-design-background.jpg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10000" contrast="10000"/>
          </a:blip>
          <a:stretch>
            <a:fillRect/>
          </a:stretch>
        </p:blipFill>
        <p:spPr>
          <a:xfrm>
            <a:off x="4519" y="1124744"/>
            <a:ext cx="9860206" cy="52632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圖片 15" descr="keyar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7500" y="2719388"/>
            <a:ext cx="2324100" cy="27146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07" name="Picture 11" descr="G:\SMART FACTORY\washing-machine-51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5616" y="4521582"/>
            <a:ext cx="1428440" cy="1435226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</p:pic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1763916" y="1196246"/>
            <a:ext cx="6552951" cy="706755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kumimoji="1" lang="zh-CN" altLang="zh-TW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立讯</a:t>
            </a:r>
            <a:r>
              <a:rPr kumimoji="1" lang="en-US" altLang="zh-CN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Watch</a:t>
            </a:r>
            <a:r>
              <a:rPr kumimoji="1" lang="zh-CN" altLang="en-US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项目</a:t>
            </a:r>
            <a:r>
              <a:rPr kumimoji="1" lang="zh-CN" altLang="zh-TW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数据流</a:t>
            </a:r>
            <a:r>
              <a:rPr kumimoji="1" lang="zh-CN" altLang="zh-TW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JhengHei" panose="020B0604030504040204" pitchFamily="34" charset="-120"/>
              </a:rPr>
              <a:t>介绍</a:t>
            </a:r>
            <a:endParaRPr kumimoji="1" lang="zh-CN" altLang="zh-TW" sz="400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 panose="020B0604030504040204" pitchFamily="34" charset="-120"/>
            </a:endParaRPr>
          </a:p>
        </p:txBody>
      </p:sp>
      <p:pic>
        <p:nvPicPr>
          <p:cNvPr id="4108" name="Picture 12" descr="G:\SMART FACTORY\icons-engineering.gif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46502" y="4597401"/>
            <a:ext cx="3592336" cy="1251679"/>
          </a:xfrm>
          <a:prstGeom prst="rect">
            <a:avLst/>
          </a:prstGeom>
          <a:noFill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extBox 4"/>
          <p:cNvSpPr txBox="1">
            <a:spLocks noChangeArrowheads="1"/>
          </p:cNvSpPr>
          <p:nvPr/>
        </p:nvSpPr>
        <p:spPr bwMode="auto">
          <a:xfrm>
            <a:off x="922774" y="1211357"/>
            <a:ext cx="6912768" cy="4246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altLang="zh-CN" sz="3000" dirty="0" smtClean="0">
                <a:latin typeface="Microsoft JhengHei" panose="020B0604030504040204" pitchFamily="34" charset="-120"/>
                <a:ea typeface="宋体" panose="02010600030101010101" pitchFamily="2" charset="-122"/>
              </a:rPr>
              <a:t>S</a:t>
            </a:r>
            <a:r>
              <a:rPr lang="zh-CN" altLang="en-US" sz="3000" dirty="0" smtClean="0">
                <a:latin typeface="Microsoft JhengHei" panose="020B0604030504040204" pitchFamily="34" charset="-120"/>
                <a:ea typeface="宋体" panose="02010600030101010101" pitchFamily="2" charset="-122"/>
              </a:rPr>
              <a:t>o</a:t>
            </a:r>
            <a:r>
              <a:rPr lang="en-US" altLang="zh-CN" sz="3000" dirty="0" smtClean="0">
                <a:latin typeface="Microsoft JhengHei" panose="020B0604030504040204" pitchFamily="34" charset="-120"/>
                <a:ea typeface="宋体" panose="02010600030101010101" pitchFamily="2" charset="-122"/>
              </a:rPr>
              <a:t>f</a:t>
            </a:r>
            <a:r>
              <a:rPr lang="zh-CN" altLang="en-US" sz="3000" dirty="0" smtClean="0">
                <a:latin typeface="Microsoft JhengHei" panose="020B0604030504040204" pitchFamily="34" charset="-120"/>
                <a:ea typeface="宋体" panose="02010600030101010101" pitchFamily="2" charset="-122"/>
              </a:rPr>
              <a:t>tware log产品追溯</a:t>
            </a:r>
            <a:r>
              <a:rPr lang="zh-CN" altLang="en-US" sz="3000" dirty="0" smtClean="0">
                <a:latin typeface="Microsoft JhengHei" panose="020B0604030504040204" pitchFamily="34" charset="-120"/>
                <a:ea typeface="宋体" panose="02010600030101010101" pitchFamily="2" charset="-122"/>
              </a:rPr>
              <a:t>系统</a:t>
            </a:r>
            <a:endParaRPr lang="zh-CN" altLang="en-US" sz="3000" dirty="0" smtClean="0">
              <a:latin typeface="Microsoft JhengHei" panose="020B0604030504040204" pitchFamily="34" charset="-120"/>
              <a:ea typeface="宋体" panose="02010600030101010101" pitchFamily="2" charset="-122"/>
            </a:endParaRPr>
          </a:p>
          <a:p>
            <a:pPr marL="514350" indent="-514350">
              <a:buAutoNum type="arabicPeriod"/>
            </a:pPr>
            <a:endParaRPr lang="zh-CN" altLang="en-US" sz="3000" dirty="0" smtClean="0">
              <a:latin typeface="Microsoft JhengHei" panose="020B0604030504040204" pitchFamily="34" charset="-120"/>
              <a:ea typeface="宋体" panose="02010600030101010101" pitchFamily="2" charset="-122"/>
            </a:endParaRPr>
          </a:p>
          <a:p>
            <a:r>
              <a:rPr lang="en-US" altLang="zh-CN" sz="30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 PDCA KPI</a:t>
            </a:r>
            <a:r>
              <a:rPr lang="zh-CN" altLang="en-US" sz="30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项数据上传系统</a:t>
            </a:r>
            <a:endParaRPr lang="zh-CN" altLang="en-US" sz="3000" dirty="0" smtClean="0">
              <a:latin typeface="Microsoft JhengHei" panose="020B0604030504040204" pitchFamily="34" charset="-120"/>
              <a:ea typeface="宋体" panose="02010600030101010101" pitchFamily="2" charset="-122"/>
            </a:endParaRPr>
          </a:p>
          <a:p>
            <a:endParaRPr lang="zh-CN" altLang="en-US" sz="3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CN" sz="30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 DashBorad</a:t>
            </a:r>
            <a:r>
              <a:rPr lang="zh-CN" altLang="en-US" sz="3000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看板</a:t>
            </a:r>
            <a:endParaRPr lang="en-US" altLang="zh-CN" sz="30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en-US" altLang="zh-CN" sz="3000" dirty="0" smtClean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zh-CN" altLang="en-US" sz="3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zh-CN" altLang="en-US" sz="3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zh-CN" altLang="en-US" sz="3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149" name="標題 1"/>
          <p:cNvSpPr/>
          <p:nvPr/>
        </p:nvSpPr>
        <p:spPr bwMode="auto">
          <a:xfrm>
            <a:off x="3649663" y="-90"/>
            <a:ext cx="2043112" cy="6540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 defTabSz="1030605"/>
            <a:r>
              <a:rPr lang="zh-CN" altLang="en-US" sz="4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MS" panose="020B0604020202020204" charset="-122"/>
              </a:rPr>
              <a:t>目录</a:t>
            </a:r>
            <a:endParaRPr lang="zh-CN" altLang="en-US" sz="4000" b="0" dirty="0">
              <a:solidFill>
                <a:schemeClr val="tx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MS" panose="020B0604020202020204" charset="-122"/>
            </a:endParaRPr>
          </a:p>
        </p:txBody>
      </p:sp>
      <p:pic>
        <p:nvPicPr>
          <p:cNvPr id="7" name="圖片 6" descr="th.jpg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7598988" y="2788195"/>
            <a:ext cx="1946930" cy="2642682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152" name="Text Box 9"/>
          <p:cNvSpPr txBox="1">
            <a:spLocks noChangeArrowheads="1"/>
          </p:cNvSpPr>
          <p:nvPr/>
        </p:nvSpPr>
        <p:spPr bwMode="auto">
          <a:xfrm>
            <a:off x="827212" y="5919663"/>
            <a:ext cx="7561534" cy="461665"/>
          </a:xfrm>
          <a:prstGeom prst="rect">
            <a:avLst/>
          </a:prstGeom>
          <a:solidFill>
            <a:srgbClr val="CCECFF"/>
          </a:solidFill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 smtClean="0">
                <a:ea typeface="微软雅黑" panose="020B0503020204020204" pitchFamily="34" charset="-122"/>
              </a:rPr>
              <a:t>     團隊核心競爭力的提升，在於技術的創新和積累。</a:t>
            </a:r>
            <a:endParaRPr lang="zh-CN" altLang="en-US" sz="2400" b="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6" name="Picture 12" descr="C:\Documents and Settings\ASUS\My Documents\My Pictures\match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044454" y="3356635"/>
            <a:ext cx="1866900" cy="186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90" name="Rectangle 14"/>
          <p:cNvSpPr>
            <a:spLocks noChangeArrowheads="1"/>
          </p:cNvSpPr>
          <p:nvPr/>
        </p:nvSpPr>
        <p:spPr bwMode="auto">
          <a:xfrm>
            <a:off x="468248" y="1268760"/>
            <a:ext cx="9073008" cy="32302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/>
            <a:r>
              <a:rPr lang="zh-CN" altLang="en-US" sz="2000" b="0" dirty="0" smtClean="0"/>
              <a:t>一、网络连接</a:t>
            </a:r>
            <a:endParaRPr lang="zh-CN" altLang="en-US" sz="2000" b="0" dirty="0" smtClean="0"/>
          </a:p>
          <a:p>
            <a:pPr lvl="0"/>
            <a:r>
              <a:rPr lang="zh-CN" altLang="en-US" sz="2000" b="0" dirty="0" smtClean="0"/>
              <a:t>立讯厂区线体规划蓝色水晶头网线为</a:t>
            </a:r>
            <a:r>
              <a:rPr lang="en-US" altLang="zh-CN" sz="2000" b="0" dirty="0" smtClean="0"/>
              <a:t>SF</a:t>
            </a:r>
            <a:r>
              <a:rPr lang="zh-CN" altLang="en-US" sz="2000" b="0" dirty="0" smtClean="0"/>
              <a:t>网线；</a:t>
            </a:r>
            <a:endParaRPr lang="zh-TW" altLang="zh-TW" sz="2000" b="0" dirty="0" smtClean="0"/>
          </a:p>
          <a:p>
            <a:r>
              <a:rPr lang="en-US" altLang="zh-TW" sz="2400" b="0" dirty="0" smtClean="0"/>
              <a:t> </a:t>
            </a:r>
            <a:r>
              <a:rPr lang="en-US" sz="2000" b="0" dirty="0" smtClean="0"/>
              <a:t>1</a:t>
            </a:r>
            <a:r>
              <a:rPr lang="zh-CN" altLang="en-US" sz="2000" b="0" dirty="0" smtClean="0"/>
              <a:t>、连接网线</a:t>
            </a:r>
            <a:endParaRPr lang="zh-CN" altLang="en-US" sz="2000" b="0" dirty="0" smtClean="0"/>
          </a:p>
          <a:p>
            <a:r>
              <a:rPr lang="zh-CN" altLang="en-US" sz="2000" b="0" dirty="0" smtClean="0"/>
              <a:t> </a:t>
            </a:r>
            <a:r>
              <a:rPr lang="en-US" altLang="zh-CN" sz="2000" b="0" dirty="0" smtClean="0"/>
              <a:t>2</a:t>
            </a:r>
            <a:r>
              <a:rPr lang="zh-CN" altLang="en-US" sz="2000" b="0" dirty="0" smtClean="0"/>
              <a:t>、设定自动获取</a:t>
            </a:r>
            <a:r>
              <a:rPr lang="en-US" altLang="zh-CN" sz="2000" b="0" dirty="0" smtClean="0"/>
              <a:t>IP</a:t>
            </a:r>
            <a:r>
              <a:rPr lang="zh-CN" altLang="en-US" sz="2000" b="0" dirty="0" smtClean="0"/>
              <a:t>，在网络连接详细信息设备名里面显示含有</a:t>
            </a:r>
            <a:r>
              <a:rPr lang="en-US" altLang="zh-CN" sz="2000" b="0" dirty="0" smtClean="0"/>
              <a:t>”mes“</a:t>
            </a:r>
            <a:r>
              <a:rPr lang="zh-CN" altLang="en-US" sz="2000" b="0" dirty="0" smtClean="0"/>
              <a:t>字样连接设备名称及连接</a:t>
            </a:r>
            <a:r>
              <a:rPr lang="zh-CN" altLang="en-US" sz="2000" b="0" dirty="0" smtClean="0"/>
              <a:t>成功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3</a:t>
            </a:r>
            <a:r>
              <a:rPr lang="zh-CN" altLang="en-US" sz="2000" b="0" dirty="0" smtClean="0"/>
              <a:t>、在上位机软件内设定线别名称（</a:t>
            </a:r>
            <a:r>
              <a:rPr lang="en-US" altLang="zh-CN" sz="2000" b="0" dirty="0" smtClean="0"/>
              <a:t>LineId</a:t>
            </a:r>
            <a:r>
              <a:rPr lang="zh-CN" altLang="en-US" sz="2000" b="0" dirty="0" smtClean="0"/>
              <a:t>）和设备名称</a:t>
            </a:r>
            <a:r>
              <a:rPr lang="en-US" altLang="zh-CN" sz="2000" b="0" dirty="0" smtClean="0"/>
              <a:t>(FixId)</a:t>
            </a:r>
            <a:endParaRPr lang="en-US" altLang="zh-CN" sz="2000" b="0" dirty="0" smtClean="0"/>
          </a:p>
          <a:p>
            <a:r>
              <a:rPr lang="en-US" altLang="zh-CN" sz="2000" b="0" dirty="0" smtClean="0"/>
              <a:t> </a:t>
            </a:r>
            <a:r>
              <a:rPr lang="zh-CN" altLang="en-US" sz="2000" b="0" dirty="0" smtClean="0"/>
              <a:t>二、</a:t>
            </a:r>
            <a:r>
              <a:rPr lang="zh-CN" altLang="en-US" sz="2000" b="0" dirty="0" smtClean="0"/>
              <a:t>主要功能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 1</a:t>
            </a:r>
            <a:r>
              <a:rPr lang="zh-CN" altLang="en-US" sz="2000" b="0" dirty="0" smtClean="0"/>
              <a:t>、查询，检测流程是否正确，查询产品颜色等</a:t>
            </a:r>
            <a:r>
              <a:rPr lang="zh-CN" altLang="en-US" sz="2000" b="0" dirty="0" smtClean="0"/>
              <a:t>信息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 2</a:t>
            </a:r>
            <a:r>
              <a:rPr lang="zh-CN" altLang="en-US" sz="2000" b="0" dirty="0" smtClean="0"/>
              <a:t>、</a:t>
            </a:r>
            <a:r>
              <a:rPr lang="en-US" altLang="zh-CN" sz="2000" b="0" dirty="0" smtClean="0"/>
              <a:t>LINK,  </a:t>
            </a:r>
            <a:r>
              <a:rPr lang="zh-CN" altLang="en-US" sz="2000" b="0" dirty="0" smtClean="0"/>
              <a:t>将已经组装产品</a:t>
            </a:r>
            <a:r>
              <a:rPr lang="zh-CN" altLang="en-US" sz="2000" b="0" dirty="0" smtClean="0"/>
              <a:t>绑定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 3</a:t>
            </a:r>
            <a:r>
              <a:rPr lang="zh-CN" altLang="en-US" sz="2000" b="0" dirty="0" smtClean="0"/>
              <a:t>、过站，产品制作</a:t>
            </a:r>
            <a:r>
              <a:rPr lang="en-US" altLang="zh-CN" sz="2000" b="0" dirty="0" smtClean="0"/>
              <a:t>OK</a:t>
            </a:r>
            <a:r>
              <a:rPr lang="zh-CN" altLang="en-US" sz="2000" b="0" dirty="0" smtClean="0"/>
              <a:t>过站，</a:t>
            </a:r>
            <a:r>
              <a:rPr lang="en-US" altLang="zh-CN" sz="2000" b="0" dirty="0" smtClean="0"/>
              <a:t>NG</a:t>
            </a:r>
            <a:r>
              <a:rPr lang="zh-CN" altLang="en-US" sz="2000" b="0" dirty="0" smtClean="0"/>
              <a:t>不</a:t>
            </a:r>
            <a:r>
              <a:rPr lang="zh-CN" altLang="en-US" sz="2000" b="0" dirty="0" smtClean="0"/>
              <a:t>过站</a:t>
            </a:r>
            <a:endParaRPr lang="zh-CN" altLang="en-US" sz="2000" b="0" dirty="0" smtClean="0"/>
          </a:p>
        </p:txBody>
      </p:sp>
      <p:sp>
        <p:nvSpPr>
          <p:cNvPr id="5" name="文字方塊 4"/>
          <p:cNvSpPr txBox="1"/>
          <p:nvPr/>
        </p:nvSpPr>
        <p:spPr>
          <a:xfrm>
            <a:off x="107826" y="116632"/>
            <a:ext cx="7128792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一、</a:t>
            </a:r>
            <a:r>
              <a:rPr lang="en-US" altLang="zh-CN" dirty="0" smtClean="0">
                <a:latin typeface="Microsoft JhengHei" panose="020B0604030504040204" pitchFamily="34" charset="-120"/>
                <a:ea typeface="宋体" panose="02010600030101010101" pitchFamily="2" charset="-122"/>
                <a:sym typeface="+mn-ea"/>
              </a:rPr>
              <a:t>S</a:t>
            </a:r>
            <a:r>
              <a:rPr lang="zh-CN" altLang="en-US" dirty="0" smtClean="0">
                <a:latin typeface="Microsoft JhengHei" panose="020B0604030504040204" pitchFamily="34" charset="-120"/>
                <a:ea typeface="宋体" panose="02010600030101010101" pitchFamily="2" charset="-122"/>
                <a:sym typeface="+mn-ea"/>
              </a:rPr>
              <a:t>o</a:t>
            </a:r>
            <a:r>
              <a:rPr lang="en-US" altLang="zh-CN" dirty="0" smtClean="0">
                <a:latin typeface="Microsoft JhengHei" panose="020B0604030504040204" pitchFamily="34" charset="-120"/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dirty="0" smtClean="0">
                <a:latin typeface="Microsoft JhengHei" panose="020B0604030504040204" pitchFamily="34" charset="-120"/>
                <a:ea typeface="宋体" panose="02010600030101010101" pitchFamily="2" charset="-122"/>
                <a:sym typeface="+mn-ea"/>
              </a:rPr>
              <a:t>tware log产品追溯系统</a:t>
            </a:r>
            <a:endParaRPr lang="zh-CN" altLang="en-US" dirty="0" smtClean="0">
              <a:latin typeface="Microsoft JhengHei" panose="020B0604030504040204" pitchFamily="34" charset="-120"/>
              <a:ea typeface="宋体" panose="02010600030101010101" pitchFamily="2" charset="-122"/>
            </a:endParaRPr>
          </a:p>
          <a:p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043930" y="5732591"/>
            <a:ext cx="7561534" cy="461665"/>
          </a:xfrm>
          <a:prstGeom prst="rect">
            <a:avLst/>
          </a:prstGeom>
          <a:solidFill>
            <a:srgbClr val="CCECFF"/>
          </a:solidFill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 smtClean="0">
                <a:ea typeface="微软雅黑" panose="020B0503020204020204" pitchFamily="34" charset="-122"/>
              </a:rPr>
              <a:t>技術提升計劃應有利於工作能力的提升，應有前瞻性。</a:t>
            </a:r>
            <a:endParaRPr lang="zh-CN" altLang="en-US" sz="2400" b="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6" name="Picture 12" descr="C:\Documents and Settings\ASUS\My Documents\My Pictures\match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812429" y="4004970"/>
            <a:ext cx="1866900" cy="186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07826" y="116632"/>
            <a:ext cx="712879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二、</a:t>
            </a:r>
            <a:r>
              <a:rPr lang="en-US" altLang="zh-CN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PDCA KPI</a:t>
            </a:r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项数据上传系统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043930" y="5991671"/>
            <a:ext cx="7561534" cy="461665"/>
          </a:xfrm>
          <a:prstGeom prst="rect">
            <a:avLst/>
          </a:prstGeom>
          <a:solidFill>
            <a:srgbClr val="CCECFF"/>
          </a:solidFill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 smtClean="0">
                <a:ea typeface="微软雅黑" panose="020B0503020204020204" pitchFamily="34" charset="-122"/>
              </a:rPr>
              <a:t>        建立循環機制，技術提升有計劃、無斷點。</a:t>
            </a:r>
            <a:endParaRPr lang="zh-CN" altLang="en-US" sz="2400" b="0" dirty="0">
              <a:ea typeface="微软雅黑" panose="020B0503020204020204" pitchFamily="34" charset="-122"/>
            </a:endParaRPr>
          </a:p>
        </p:txBody>
      </p:sp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396493" y="980470"/>
            <a:ext cx="9073008" cy="44615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lvl="0"/>
            <a:r>
              <a:rPr lang="zh-CN" altLang="en-US" sz="2000" b="0" dirty="0" smtClean="0"/>
              <a:t>一、网络连接</a:t>
            </a:r>
            <a:endParaRPr lang="zh-CN" altLang="en-US" sz="2000" b="0" dirty="0" smtClean="0"/>
          </a:p>
          <a:p>
            <a:pPr lvl="0"/>
            <a:r>
              <a:rPr lang="zh-CN" altLang="en-US" sz="2000" b="0" dirty="0" smtClean="0"/>
              <a:t> </a:t>
            </a:r>
            <a:r>
              <a:rPr lang="en-US" altLang="zh-CN" sz="2000" b="0" dirty="0" smtClean="0"/>
              <a:t>  mini USB</a:t>
            </a:r>
            <a:r>
              <a:rPr lang="zh-CN" altLang="en-US" sz="2000" b="0" dirty="0" smtClean="0"/>
              <a:t>转网口连接至工控机，设备</a:t>
            </a:r>
            <a:r>
              <a:rPr lang="en-US" altLang="zh-CN" sz="2000" b="0" dirty="0" smtClean="0"/>
              <a:t>IP 169.254.1.10</a:t>
            </a:r>
            <a:endParaRPr lang="zh-CN" altLang="en-US" sz="2000" b="0" dirty="0" smtClean="0"/>
          </a:p>
          <a:p>
            <a:r>
              <a:rPr lang="en-US" altLang="zh-TW" sz="2400" b="0" dirty="0" smtClean="0"/>
              <a:t> </a:t>
            </a:r>
            <a:r>
              <a:rPr lang="en-US" sz="2000" b="0" dirty="0" smtClean="0"/>
              <a:t>1</a:t>
            </a:r>
            <a:r>
              <a:rPr lang="zh-CN" altLang="en-US" sz="2000" b="0" dirty="0" smtClean="0"/>
              <a:t>、连接网线</a:t>
            </a:r>
            <a:endParaRPr lang="zh-CN" altLang="en-US" sz="2000" b="0" dirty="0" smtClean="0"/>
          </a:p>
          <a:p>
            <a:r>
              <a:rPr lang="zh-CN" altLang="en-US" sz="2000" b="0" dirty="0" smtClean="0"/>
              <a:t> </a:t>
            </a:r>
            <a:r>
              <a:rPr lang="en-US" altLang="zh-CN" sz="2000" b="0" dirty="0" smtClean="0"/>
              <a:t>2</a:t>
            </a:r>
            <a:r>
              <a:rPr lang="zh-CN" altLang="en-US" sz="2000" b="0" dirty="0" smtClean="0"/>
              <a:t>、设定对应网口</a:t>
            </a:r>
            <a:r>
              <a:rPr lang="en-US" altLang="zh-CN" sz="2000" b="0" dirty="0" smtClean="0"/>
              <a:t>IP 169.254.1.100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3</a:t>
            </a:r>
            <a:r>
              <a:rPr lang="zh-CN" altLang="en-US" sz="2000" b="0" dirty="0" smtClean="0"/>
              <a:t>、工控机设定密码为</a:t>
            </a:r>
            <a:r>
              <a:rPr lang="en-US" altLang="zh-CN" sz="2000" b="0" dirty="0" smtClean="0"/>
              <a:t>’0’;</a:t>
            </a:r>
            <a:endParaRPr lang="en-US" altLang="zh-CN" sz="2000" b="0" dirty="0" smtClean="0"/>
          </a:p>
          <a:p>
            <a:r>
              <a:rPr lang="en-US" altLang="zh-CN" sz="2000" b="0" dirty="0" smtClean="0"/>
              <a:t> 4</a:t>
            </a:r>
            <a:r>
              <a:rPr lang="zh-CN" altLang="en-US" sz="2000" b="0" dirty="0" smtClean="0"/>
              <a:t>、工控机</a:t>
            </a:r>
            <a:r>
              <a:rPr lang="en-US" altLang="zh-CN" sz="2000" b="0" dirty="0" smtClean="0"/>
              <a:t>-</a:t>
            </a:r>
            <a:r>
              <a:rPr lang="zh-CN" altLang="en-US" sz="2000" b="0" dirty="0" smtClean="0"/>
              <a:t>控制面板</a:t>
            </a:r>
            <a:r>
              <a:rPr lang="en-US" altLang="zh-CN" sz="2000" b="0" dirty="0" smtClean="0"/>
              <a:t>-</a:t>
            </a:r>
            <a:r>
              <a:rPr lang="zh-CN" altLang="en-US" sz="2000" b="0" dirty="0" smtClean="0"/>
              <a:t>程序</a:t>
            </a:r>
            <a:r>
              <a:rPr lang="en-US" altLang="zh-CN" sz="2000" b="0" dirty="0" smtClean="0"/>
              <a:t>-</a:t>
            </a:r>
            <a:r>
              <a:rPr lang="zh-CN" altLang="en-US" sz="2000" b="0" dirty="0" smtClean="0"/>
              <a:t>程序功能</a:t>
            </a:r>
            <a:r>
              <a:rPr lang="en-US" altLang="zh-CN" sz="2000" b="0" dirty="0" smtClean="0"/>
              <a:t>-</a:t>
            </a:r>
            <a:r>
              <a:rPr lang="zh-CN" altLang="en-US" sz="2000" b="0" dirty="0" smtClean="0"/>
              <a:t>启用和关闭</a:t>
            </a:r>
            <a:r>
              <a:rPr lang="en-US" altLang="zh-CN" sz="2000" b="0" dirty="0" smtClean="0"/>
              <a:t>Windows</a:t>
            </a:r>
            <a:r>
              <a:rPr lang="zh-CN" altLang="en-US" sz="2000" b="0" dirty="0" smtClean="0"/>
              <a:t>功能</a:t>
            </a:r>
            <a:r>
              <a:rPr lang="en-US" altLang="zh-CN" sz="2000" b="0" dirty="0" smtClean="0"/>
              <a:t>-SMB 1.0/CIFS</a:t>
            </a:r>
            <a:r>
              <a:rPr lang="zh-CN" altLang="en-US" sz="2000" b="0" dirty="0" smtClean="0"/>
              <a:t>服务器项勾选；负责</a:t>
            </a:r>
            <a:r>
              <a:rPr lang="en-US" altLang="zh-CN" sz="2000" b="0" dirty="0" smtClean="0"/>
              <a:t>PDCA</a:t>
            </a:r>
            <a:r>
              <a:rPr lang="zh-CN" altLang="en-US" sz="2000" b="0" dirty="0" smtClean="0"/>
              <a:t>无法访问工控</a:t>
            </a:r>
            <a:r>
              <a:rPr lang="zh-CN" altLang="en-US" sz="2000" b="0" dirty="0" smtClean="0"/>
              <a:t>机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5</a:t>
            </a:r>
            <a:r>
              <a:rPr lang="zh-CN" altLang="en-US" sz="2000" b="0" dirty="0" smtClean="0"/>
              <a:t>、共享</a:t>
            </a:r>
            <a:r>
              <a:rPr lang="en-US" altLang="zh-CN" sz="2000" b="0" dirty="0" smtClean="0"/>
              <a:t>D</a:t>
            </a:r>
            <a:r>
              <a:rPr lang="zh-CN" altLang="en-US" sz="2000" b="0" dirty="0" smtClean="0"/>
              <a:t>盘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</a:t>
            </a:r>
            <a:r>
              <a:rPr lang="zh-CN" altLang="en-US" sz="2000" b="0" dirty="0" smtClean="0"/>
              <a:t>二、</a:t>
            </a:r>
            <a:r>
              <a:rPr lang="zh-CN" altLang="en-US" sz="2000" b="0" dirty="0" smtClean="0"/>
              <a:t>主要功能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 1</a:t>
            </a:r>
            <a:r>
              <a:rPr lang="zh-CN" altLang="en-US" sz="2000" b="0" dirty="0" smtClean="0"/>
              <a:t>、将产品</a:t>
            </a:r>
            <a:r>
              <a:rPr lang="en-US" altLang="zh-CN" sz="2000" b="0" dirty="0" smtClean="0"/>
              <a:t>KPI</a:t>
            </a:r>
            <a:r>
              <a:rPr lang="zh-CN" altLang="en-US" sz="2000" b="0" dirty="0" smtClean="0"/>
              <a:t>数据上传，每个数据会有上下限，超出范围判定为</a:t>
            </a:r>
            <a:r>
              <a:rPr lang="en-US" altLang="zh-CN" sz="2000" b="0" dirty="0" smtClean="0"/>
              <a:t>NG,</a:t>
            </a:r>
            <a:r>
              <a:rPr lang="zh-CN" altLang="en-US" sz="2000" b="0" dirty="0" smtClean="0"/>
              <a:t>应与</a:t>
            </a:r>
            <a:r>
              <a:rPr lang="en-US" altLang="zh-CN" sz="2000" b="0" dirty="0" smtClean="0"/>
              <a:t>SF</a:t>
            </a:r>
            <a:r>
              <a:rPr lang="zh-CN" altLang="en-US" sz="2000" b="0" dirty="0" smtClean="0"/>
              <a:t>过站结果一致；</a:t>
            </a:r>
            <a:r>
              <a:rPr lang="en-US" altLang="zh-CN" sz="2000" b="0" dirty="0" smtClean="0"/>
              <a:t>PDCA</a:t>
            </a:r>
            <a:r>
              <a:rPr lang="zh-CN" altLang="en-US" sz="2000" b="0" dirty="0" smtClean="0"/>
              <a:t>判定</a:t>
            </a:r>
            <a:r>
              <a:rPr lang="en-US" altLang="zh-CN" sz="2000" b="0" dirty="0" smtClean="0"/>
              <a:t>NG</a:t>
            </a:r>
            <a:r>
              <a:rPr lang="zh-CN" altLang="en-US" sz="2000" b="0" dirty="0" smtClean="0"/>
              <a:t>的产品如果过站后面工站将无法</a:t>
            </a:r>
            <a:r>
              <a:rPr lang="zh-CN" altLang="en-US" sz="2000" b="0" dirty="0" smtClean="0"/>
              <a:t>做料。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  2</a:t>
            </a:r>
            <a:r>
              <a:rPr lang="zh-CN" altLang="en-US" sz="2000" b="0" dirty="0" smtClean="0"/>
              <a:t>、视觉图片存档与以产品码命名的文件夹中，</a:t>
            </a:r>
            <a:r>
              <a:rPr lang="en-US" altLang="zh-CN" sz="2000" b="0" dirty="0" smtClean="0"/>
              <a:t>PDCA</a:t>
            </a:r>
            <a:r>
              <a:rPr lang="zh-CN" altLang="en-US" sz="2000" b="0" dirty="0" smtClean="0"/>
              <a:t>自动</a:t>
            </a:r>
            <a:r>
              <a:rPr lang="zh-CN" altLang="en-US" sz="2000" b="0" dirty="0" smtClean="0"/>
              <a:t>获取。</a:t>
            </a:r>
            <a:endParaRPr lang="zh-CN" altLang="en-US" sz="2000" b="0" dirty="0" smtClean="0"/>
          </a:p>
          <a:p>
            <a:endParaRPr lang="zh-CN" altLang="en-US" sz="2000" b="0" dirty="0" smtClean="0"/>
          </a:p>
          <a:p>
            <a:r>
              <a:rPr lang="en-US" altLang="zh-CN" sz="2000" b="0" dirty="0" smtClean="0">
                <a:solidFill>
                  <a:srgbClr val="FF0000"/>
                </a:solidFill>
              </a:rPr>
              <a:t>  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备注：如果上传图片不成功的化，请检查网络连接里面的</a:t>
            </a:r>
            <a:r>
              <a:rPr lang="en-US" altLang="zh-CN" sz="2000" b="0" dirty="0" smtClean="0">
                <a:solidFill>
                  <a:srgbClr val="FF0000"/>
                </a:solidFill>
              </a:rPr>
              <a:t>5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项。</a:t>
            </a:r>
            <a:endParaRPr lang="zh-CN" altLang="en-US" sz="2000" b="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2095" y="116205"/>
            <a:ext cx="39700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三、</a:t>
            </a:r>
            <a:r>
              <a:rPr lang="en-US" altLang="zh-CN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DashBorad</a:t>
            </a:r>
            <a:r>
              <a:rPr lang="zh-CN" altLang="en-US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看板</a:t>
            </a:r>
            <a:endParaRPr lang="zh-CN" altLang="en-US" dirty="0" smtClean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</p:txBody>
      </p:sp>
      <p:sp>
        <p:nvSpPr>
          <p:cNvPr id="3" name="Rectangle 14"/>
          <p:cNvSpPr>
            <a:spLocks noChangeArrowheads="1"/>
          </p:cNvSpPr>
          <p:nvPr/>
        </p:nvSpPr>
        <p:spPr bwMode="auto">
          <a:xfrm>
            <a:off x="396493" y="980470"/>
            <a:ext cx="9073008" cy="31692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zh-CN" altLang="en-US" sz="2000" b="0" dirty="0" smtClean="0"/>
              <a:t>一、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DashBorad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上传项</a:t>
            </a:r>
            <a:endParaRPr lang="zh-CN" altLang="en-US" sz="2000" dirty="0" smtClean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 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     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设备状态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/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设备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IO/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工站报警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/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工站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INPUT+KPI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项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/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工站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OUTPUT+KPI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项；</a:t>
            </a:r>
            <a:endParaRPr lang="zh-CN" altLang="en-US" sz="2000" dirty="0" smtClean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 </a:t>
            </a:r>
            <a:r>
              <a:rPr lang="en-US" altLang="zh-CN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DashBorad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根据上述信息定制图标</a:t>
            </a:r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显示</a:t>
            </a:r>
            <a:endParaRPr lang="zh-CN" altLang="en-US" sz="2000" dirty="0" smtClean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zh-CN" altLang="en-US" sz="2000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+mn-ea"/>
              </a:rPr>
              <a:t>二、网络连接</a:t>
            </a:r>
            <a:endParaRPr lang="zh-CN" altLang="en-US" sz="2000" dirty="0" smtClean="0">
              <a:latin typeface="Microsoft JhengHei" panose="020B0604030504040204" pitchFamily="34" charset="-120"/>
              <a:ea typeface="Microsoft JhengHei" panose="020B0604030504040204" pitchFamily="34" charset="-120"/>
              <a:sym typeface="+mn-ea"/>
            </a:endParaRPr>
          </a:p>
          <a:p>
            <a:r>
              <a:rPr lang="en-US" altLang="zh-CN" sz="2000" b="0" dirty="0" smtClean="0"/>
              <a:t>1</a:t>
            </a:r>
            <a:r>
              <a:rPr lang="zh-CN" altLang="en-US" sz="2000" b="0" dirty="0" smtClean="0"/>
              <a:t>、</a:t>
            </a:r>
            <a:r>
              <a:rPr lang="en-US" altLang="zh-CN" sz="2000" b="0" dirty="0" smtClean="0"/>
              <a:t>IP</a:t>
            </a:r>
            <a:r>
              <a:rPr lang="zh-CN" altLang="en-US" sz="2000" b="0" dirty="0" smtClean="0"/>
              <a:t>连接地址咨询</a:t>
            </a:r>
            <a:r>
              <a:rPr lang="en-US" altLang="zh-CN" sz="2000" b="0" dirty="0" smtClean="0"/>
              <a:t>DASH</a:t>
            </a:r>
            <a:r>
              <a:rPr lang="zh-CN" altLang="en-US" sz="2000" b="0" dirty="0" smtClean="0"/>
              <a:t>厂商</a:t>
            </a:r>
            <a:endParaRPr lang="zh-CN" altLang="en-US" sz="2000" b="0" dirty="0" smtClean="0"/>
          </a:p>
          <a:p>
            <a:r>
              <a:rPr lang="en-US" altLang="zh-CN" sz="2000" b="0" dirty="0" smtClean="0"/>
              <a:t>2</a:t>
            </a:r>
            <a:r>
              <a:rPr lang="zh-CN" altLang="en-US" sz="2000" b="0" dirty="0" smtClean="0"/>
              <a:t>、厂商安装</a:t>
            </a:r>
            <a:r>
              <a:rPr lang="en-US" altLang="zh-CN" sz="2000" b="0" dirty="0" smtClean="0"/>
              <a:t>”</a:t>
            </a:r>
            <a:r>
              <a:rPr lang="zh-CN" altLang="en-US" sz="2000" b="0" dirty="0" smtClean="0"/>
              <a:t>大眼睛</a:t>
            </a:r>
            <a:r>
              <a:rPr lang="en-US" altLang="zh-CN" sz="2000" b="0" dirty="0" smtClean="0"/>
              <a:t>”</a:t>
            </a:r>
            <a:r>
              <a:rPr lang="zh-CN" altLang="en-US" sz="2000" b="0" dirty="0" smtClean="0"/>
              <a:t>连接</a:t>
            </a:r>
            <a:r>
              <a:rPr lang="zh-CN" altLang="en-US" sz="2000" b="0" dirty="0" smtClean="0"/>
              <a:t>软件</a:t>
            </a:r>
            <a:endParaRPr lang="zh-CN" altLang="en-US" sz="2000" b="0" dirty="0" smtClean="0"/>
          </a:p>
          <a:p>
            <a:r>
              <a:rPr lang="zh-CN" altLang="en-US" sz="2000" b="0" dirty="0" smtClean="0"/>
              <a:t>三、软件</a:t>
            </a:r>
            <a:r>
              <a:rPr lang="zh-CN" altLang="en-US" sz="2000" b="0" dirty="0" smtClean="0"/>
              <a:t>配置</a:t>
            </a:r>
            <a:endParaRPr lang="zh-CN" altLang="en-US" sz="2000" b="0" dirty="0" smtClean="0"/>
          </a:p>
          <a:p>
            <a:r>
              <a:rPr lang="zh-CN" altLang="en-US" sz="2000" b="0" dirty="0" smtClean="0"/>
              <a:t> </a:t>
            </a:r>
            <a:r>
              <a:rPr lang="en-US" altLang="zh-CN" sz="2000" b="0" dirty="0" smtClean="0"/>
              <a:t>1</a:t>
            </a:r>
            <a:r>
              <a:rPr lang="zh-CN" altLang="en-US" sz="2000" b="0" dirty="0" smtClean="0"/>
              <a:t>、上位机和</a:t>
            </a:r>
            <a:r>
              <a:rPr lang="en-US" altLang="zh-CN" sz="2000" b="0" dirty="0" smtClean="0"/>
              <a:t>PLC“FINS”</a:t>
            </a:r>
            <a:r>
              <a:rPr lang="zh-CN" altLang="en-US" sz="2000" b="0" dirty="0" smtClean="0"/>
              <a:t>通讯。</a:t>
            </a:r>
            <a:endParaRPr lang="zh-CN" altLang="en-US" sz="2000" b="0" dirty="0" smtClean="0"/>
          </a:p>
          <a:p>
            <a:r>
              <a:rPr lang="zh-CN" altLang="en-US" sz="2000" b="0" dirty="0" smtClean="0"/>
              <a:t> </a:t>
            </a:r>
            <a:r>
              <a:rPr lang="en-US" altLang="zh-CN" sz="2000" b="0" dirty="0" smtClean="0"/>
              <a:t>2</a:t>
            </a:r>
            <a:r>
              <a:rPr lang="zh-CN" altLang="en-US" sz="2000" b="0" dirty="0" smtClean="0"/>
              <a:t>、上位机软件终设定了</a:t>
            </a:r>
            <a:r>
              <a:rPr lang="en-US" altLang="zh-CN" sz="2000" b="0" dirty="0" smtClean="0"/>
              <a:t>PLC</a:t>
            </a:r>
            <a:r>
              <a:rPr lang="zh-CN" altLang="en-US" sz="2000" b="0" dirty="0" smtClean="0"/>
              <a:t>对应变量的物理</a:t>
            </a:r>
            <a:r>
              <a:rPr lang="zh-CN" altLang="en-US" sz="2000" b="0" dirty="0" smtClean="0"/>
              <a:t>地址。</a:t>
            </a:r>
            <a:endParaRPr lang="zh-CN" altLang="en-US" sz="2000" b="0" dirty="0" smtClean="0"/>
          </a:p>
          <a:p>
            <a:endParaRPr lang="zh-CN" altLang="en-US" sz="2000" b="0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2140" y="3933190"/>
            <a:ext cx="3835400" cy="12299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Forme 2"/>
          <p:cNvSpPr txBox="1"/>
          <p:nvPr/>
        </p:nvSpPr>
        <p:spPr bwMode="auto">
          <a:xfrm>
            <a:off x="1331962" y="2852936"/>
            <a:ext cx="6120680" cy="7200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11480" indent="-342900" algn="ctr">
              <a:spcBef>
                <a:spcPts val="600"/>
              </a:spcBef>
              <a:buClr>
                <a:srgbClr val="002060"/>
              </a:buClr>
              <a:buSzPct val="95000"/>
              <a:buFont typeface="Wingdings" panose="05000000000000000000" pitchFamily="2" charset="2"/>
              <a:buNone/>
            </a:pPr>
            <a:r>
              <a:rPr lang="zh-CN" altLang="en-US" sz="3600" dirty="0" smtClean="0">
                <a:solidFill>
                  <a:srgbClr val="0D0D0D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 Unicode MS" panose="020B0604020202020204" charset="-122"/>
              </a:rPr>
              <a:t>報告结束  敬請指導</a:t>
            </a:r>
            <a:endParaRPr lang="zh-TW" altLang="en-US" sz="3600" dirty="0">
              <a:solidFill>
                <a:srgbClr val="0D0D0D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 Unicode MS" panose="020B0604020202020204" charset="-122"/>
            </a:endParaRPr>
          </a:p>
          <a:p>
            <a:pPr marL="411480" indent="-342900" algn="ctr">
              <a:spcBef>
                <a:spcPts val="600"/>
              </a:spcBef>
              <a:buClr>
                <a:srgbClr val="002060"/>
              </a:buClr>
              <a:buSzPct val="95000"/>
              <a:buFont typeface="Wingdings" panose="05000000000000000000" pitchFamily="2" charset="2"/>
              <a:buNone/>
            </a:pPr>
            <a:endParaRPr lang="zh-TW" altLang="en-US" sz="3000" b="0" dirty="0">
              <a:solidFill>
                <a:srgbClr val="0D0D0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  <a:p>
            <a:pPr marL="411480" indent="-342900">
              <a:spcBef>
                <a:spcPts val="600"/>
              </a:spcBef>
              <a:buClr>
                <a:srgbClr val="002060"/>
              </a:buClr>
              <a:buSzPct val="95000"/>
              <a:buFont typeface="Wingdings" panose="05000000000000000000" pitchFamily="2" charset="2"/>
              <a:buNone/>
            </a:pPr>
            <a:endParaRPr lang="en-US" altLang="zh-CN" sz="2000" b="0" dirty="0">
              <a:solidFill>
                <a:srgbClr val="0D0D0D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pic>
        <p:nvPicPr>
          <p:cNvPr id="122887" name="Picture 12" descr="C:\Documents and Settings\ASUS\My Documents\My Pictures\match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596658" y="2355775"/>
            <a:ext cx="1866900" cy="1865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6744,&quot;width&quot;:10176}"/>
</p:tagLst>
</file>

<file path=ppt/theme/theme1.xml><?xml version="1.0" encoding="utf-8"?>
<a:theme xmlns:a="http://schemas.openxmlformats.org/drawingml/2006/main" name="1_Office 主题">
  <a:themeElements>
    <a:clrScheme name="海尔模板">
      <a:dk1>
        <a:srgbClr val="000000"/>
      </a:dk1>
      <a:lt1>
        <a:srgbClr val="FFFFFF"/>
      </a:lt1>
      <a:dk2>
        <a:srgbClr val="373891"/>
      </a:dk2>
      <a:lt2>
        <a:srgbClr val="E6E6E6"/>
      </a:lt2>
      <a:accent1>
        <a:srgbClr val="E6E6E6"/>
      </a:accent1>
      <a:accent2>
        <a:srgbClr val="F03C78"/>
      </a:accent2>
      <a:accent3>
        <a:srgbClr val="373891"/>
      </a:accent3>
      <a:accent4>
        <a:srgbClr val="E6E6E6"/>
      </a:accent4>
      <a:accent5>
        <a:srgbClr val="E6E6E6"/>
      </a:accent5>
      <a:accent6>
        <a:srgbClr val="E6E6E6"/>
      </a:accent6>
      <a:hlink>
        <a:srgbClr val="373891"/>
      </a:hlink>
      <a:folHlink>
        <a:srgbClr val="C00000"/>
      </a:folHlink>
    </a:clrScheme>
    <a:fontScheme name="海尔模板">
      <a:majorFont>
        <a:latin typeface="华文细黑"/>
        <a:ea typeface="华文细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演示</Application>
  <PresentationFormat>自定义</PresentationFormat>
  <Paragraphs>65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华文细黑</vt:lpstr>
      <vt:lpstr>Microsoft JhengHei</vt:lpstr>
      <vt:lpstr>Arial Unicode MS</vt:lpstr>
      <vt:lpstr>Times New Roman</vt:lpstr>
      <vt:lpstr>Arial Unicode MS</vt:lpstr>
      <vt:lpstr>Calibri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haier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haier</dc:creator>
  <cp:lastModifiedBy>user</cp:lastModifiedBy>
  <cp:revision>1013</cp:revision>
  <dcterms:created xsi:type="dcterms:W3CDTF">2013-05-08T07:48:00Z</dcterms:created>
  <dcterms:modified xsi:type="dcterms:W3CDTF">2022-12-08T02:59:40Z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  <property fmtid="{D5CDD505-2E9C-101B-9397-08002B2CF9AE}" pid="3" name="ICV">
    <vt:lpwstr>E38514EE474043B0922E5B3246618C1F</vt:lpwstr>
  </property>
</Properties>
</file>